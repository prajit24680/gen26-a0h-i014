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4610100" cy="3460750"/>
  <p:notesSz cx="4610100" cy="34607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200" d="100"/>
          <a:sy n="200" d="100"/>
        </p:scale>
        <p:origin x="922" y="115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61358" y="373058"/>
            <a:ext cx="1110269" cy="459012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40646" y="431263"/>
            <a:ext cx="815796" cy="34939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423048" y="448325"/>
            <a:ext cx="234127" cy="308755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24002" y="973912"/>
            <a:ext cx="3960495" cy="15240"/>
          </a:xfrm>
          <a:custGeom>
            <a:avLst/>
            <a:gdLst/>
            <a:ahLst/>
            <a:cxnLst/>
            <a:rect l="l" t="t" r="r" b="b"/>
            <a:pathLst>
              <a:path w="3960495" h="15240">
                <a:moveTo>
                  <a:pt x="3959999" y="0"/>
                </a:moveTo>
                <a:lnTo>
                  <a:pt x="0" y="0"/>
                </a:lnTo>
                <a:lnTo>
                  <a:pt x="0" y="15189"/>
                </a:lnTo>
                <a:lnTo>
                  <a:pt x="3959999" y="15189"/>
                </a:lnTo>
                <a:lnTo>
                  <a:pt x="3959999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324002" y="1220635"/>
            <a:ext cx="871219" cy="31750"/>
          </a:xfrm>
          <a:custGeom>
            <a:avLst/>
            <a:gdLst/>
            <a:ahLst/>
            <a:cxnLst/>
            <a:rect l="l" t="t" r="r" b="b"/>
            <a:pathLst>
              <a:path w="871219" h="31750">
                <a:moveTo>
                  <a:pt x="871207" y="0"/>
                </a:moveTo>
                <a:lnTo>
                  <a:pt x="0" y="0"/>
                </a:lnTo>
                <a:lnTo>
                  <a:pt x="0" y="31635"/>
                </a:lnTo>
                <a:lnTo>
                  <a:pt x="871207" y="31635"/>
                </a:lnTo>
                <a:lnTo>
                  <a:pt x="87120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11302" y="1376131"/>
            <a:ext cx="1414145" cy="20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439826" y="1804014"/>
            <a:ext cx="1433830" cy="6616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230505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2374201" y="795972"/>
            <a:ext cx="2005393" cy="22840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4608195" cy="316865"/>
          </a:xfrm>
          <a:custGeom>
            <a:avLst/>
            <a:gdLst/>
            <a:ahLst/>
            <a:cxnLst/>
            <a:rect l="l" t="t" r="r" b="b"/>
            <a:pathLst>
              <a:path w="4608195" h="316865">
                <a:moveTo>
                  <a:pt x="4608004" y="0"/>
                </a:moveTo>
                <a:lnTo>
                  <a:pt x="0" y="0"/>
                </a:lnTo>
                <a:lnTo>
                  <a:pt x="0" y="316801"/>
                </a:lnTo>
                <a:lnTo>
                  <a:pt x="4608004" y="316801"/>
                </a:lnTo>
                <a:lnTo>
                  <a:pt x="4608004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1302" y="57555"/>
            <a:ext cx="2715895" cy="191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rgbClr val="154B33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5902" y="770661"/>
            <a:ext cx="4036695" cy="19989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720210" y="3333867"/>
            <a:ext cx="57657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11302" y="3333867"/>
            <a:ext cx="826769" cy="1162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00" b="0" i="0">
                <a:solidFill>
                  <a:srgbClr val="154B33"/>
                </a:solidFill>
                <a:latin typeface="Arial Black"/>
                <a:cs typeface="Arial Black"/>
              </a:defRPr>
            </a:lvl1pPr>
          </a:lstStyle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319272" y="3218497"/>
            <a:ext cx="1060323" cy="1730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9.xml"/><Relationship Id="rId13" Type="http://schemas.openxmlformats.org/officeDocument/2006/relationships/slide" Target="slide14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12" Type="http://schemas.openxmlformats.org/officeDocument/2006/relationships/slide" Target="slide13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2.xml"/><Relationship Id="rId5" Type="http://schemas.openxmlformats.org/officeDocument/2006/relationships/slide" Target="slide6.xml"/><Relationship Id="rId10" Type="http://schemas.openxmlformats.org/officeDocument/2006/relationships/slide" Target="slide11.xml"/><Relationship Id="rId4" Type="http://schemas.openxmlformats.org/officeDocument/2006/relationships/slide" Target="slide5.xml"/><Relationship Id="rId9" Type="http://schemas.openxmlformats.org/officeDocument/2006/relationships/slide" Target="slide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0959-6526(01)00018-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i.org/10.1016/j.procs.2026.03.037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0959-6526(01)00018-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S0959-6526(01)00018-X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3390/s26196270" TargetMode="External"/><Relationship Id="rId4" Type="http://schemas.openxmlformats.org/officeDocument/2006/relationships/hyperlink" Target="https://doi.org/10.1016/j.procs.2026.03.037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energy.gov/cmei/femp/measurement-and-verification-options-federal-energy-and-water-saving-projects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sdgs.un.org/goals/goal6" TargetMode="Externa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sdgs.un.org/goals/goal12" TargetMode="External"/><Relationship Id="rId4" Type="http://schemas.openxmlformats.org/officeDocument/2006/relationships/hyperlink" Target="https://sdgs.un.org/goals/goal7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/>
          <p:cNvSpPr/>
          <p:nvPr/>
        </p:nvSpPr>
        <p:spPr>
          <a:xfrm>
            <a:off x="0" y="-12"/>
            <a:ext cx="4608195" cy="57785"/>
          </a:xfrm>
          <a:custGeom>
            <a:avLst/>
            <a:gdLst/>
            <a:ahLst/>
            <a:cxnLst/>
            <a:rect l="l" t="t" r="r" b="b"/>
            <a:pathLst>
              <a:path w="4608195" h="57785">
                <a:moveTo>
                  <a:pt x="4608004" y="0"/>
                </a:moveTo>
                <a:lnTo>
                  <a:pt x="0" y="0"/>
                </a:lnTo>
                <a:lnTo>
                  <a:pt x="0" y="57607"/>
                </a:lnTo>
                <a:lnTo>
                  <a:pt x="4608004" y="57607"/>
                </a:lnTo>
                <a:lnTo>
                  <a:pt x="4608004" y="0"/>
                </a:lnTo>
                <a:close/>
              </a:path>
            </a:pathLst>
          </a:custGeom>
          <a:solidFill>
            <a:srgbClr val="154B3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311302" y="1376130"/>
            <a:ext cx="2146148" cy="19684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200" spc="-150" dirty="0">
                <a:latin typeface="Arial Black"/>
                <a:cs typeface="Arial Black"/>
              </a:rPr>
              <a:t>CampusWatch</a:t>
            </a:r>
            <a:r>
              <a:rPr sz="1200" spc="120" dirty="0">
                <a:latin typeface="Arial Black"/>
                <a:cs typeface="Arial Black"/>
              </a:rPr>
              <a:t> </a:t>
            </a:r>
            <a:r>
              <a:rPr sz="1200" spc="-130" dirty="0">
                <a:latin typeface="Arial Black"/>
                <a:cs typeface="Arial Black"/>
              </a:rPr>
              <a:t>x360</a:t>
            </a:r>
            <a:endParaRPr sz="1200" dirty="0">
              <a:latin typeface="Arial Black"/>
              <a:cs typeface="Arial Black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26505" y="1729363"/>
            <a:ext cx="3960495" cy="848994"/>
          </a:xfrm>
          <a:custGeom>
            <a:avLst/>
            <a:gdLst/>
            <a:ahLst/>
            <a:cxnLst/>
            <a:rect l="l" t="t" r="r" b="b"/>
            <a:pathLst>
              <a:path w="3960495" h="848994">
                <a:moveTo>
                  <a:pt x="3909450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797968"/>
                </a:lnTo>
                <a:lnTo>
                  <a:pt x="3977" y="817668"/>
                </a:lnTo>
                <a:lnTo>
                  <a:pt x="14823" y="833755"/>
                </a:lnTo>
                <a:lnTo>
                  <a:pt x="30910" y="844602"/>
                </a:lnTo>
                <a:lnTo>
                  <a:pt x="50610" y="848579"/>
                </a:lnTo>
                <a:lnTo>
                  <a:pt x="3909450" y="848579"/>
                </a:lnTo>
                <a:lnTo>
                  <a:pt x="3929151" y="844602"/>
                </a:lnTo>
                <a:lnTo>
                  <a:pt x="3945238" y="833755"/>
                </a:lnTo>
                <a:lnTo>
                  <a:pt x="3956084" y="817668"/>
                </a:lnTo>
                <a:lnTo>
                  <a:pt x="3960061" y="797968"/>
                </a:lnTo>
                <a:lnTo>
                  <a:pt x="3960061" y="50610"/>
                </a:lnTo>
                <a:lnTo>
                  <a:pt x="3956084" y="30910"/>
                </a:lnTo>
                <a:lnTo>
                  <a:pt x="3945238" y="14823"/>
                </a:lnTo>
                <a:lnTo>
                  <a:pt x="3929151" y="3977"/>
                </a:lnTo>
                <a:lnTo>
                  <a:pt x="3909450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323974" y="1726832"/>
            <a:ext cx="38100" cy="854075"/>
          </a:xfrm>
          <a:custGeom>
            <a:avLst/>
            <a:gdLst/>
            <a:ahLst/>
            <a:cxnLst/>
            <a:rect l="l" t="t" r="r" b="b"/>
            <a:pathLst>
              <a:path w="38100" h="854075">
                <a:moveTo>
                  <a:pt x="18979" y="0"/>
                </a:moveTo>
                <a:lnTo>
                  <a:pt x="11591" y="1491"/>
                </a:lnTo>
                <a:lnTo>
                  <a:pt x="5558" y="5558"/>
                </a:lnTo>
                <a:lnTo>
                  <a:pt x="1491" y="11591"/>
                </a:lnTo>
                <a:lnTo>
                  <a:pt x="0" y="18979"/>
                </a:lnTo>
                <a:lnTo>
                  <a:pt x="0" y="834661"/>
                </a:lnTo>
                <a:lnTo>
                  <a:pt x="1491" y="842048"/>
                </a:lnTo>
                <a:lnTo>
                  <a:pt x="5558" y="848081"/>
                </a:lnTo>
                <a:lnTo>
                  <a:pt x="11591" y="852149"/>
                </a:lnTo>
                <a:lnTo>
                  <a:pt x="18979" y="853640"/>
                </a:lnTo>
                <a:lnTo>
                  <a:pt x="26366" y="852149"/>
                </a:lnTo>
                <a:lnTo>
                  <a:pt x="32399" y="848081"/>
                </a:lnTo>
                <a:lnTo>
                  <a:pt x="36466" y="842048"/>
                </a:lnTo>
                <a:lnTo>
                  <a:pt x="37958" y="834661"/>
                </a:lnTo>
                <a:lnTo>
                  <a:pt x="37958" y="18979"/>
                </a:lnTo>
                <a:lnTo>
                  <a:pt x="36466" y="11591"/>
                </a:lnTo>
                <a:lnTo>
                  <a:pt x="32399" y="5558"/>
                </a:lnTo>
                <a:lnTo>
                  <a:pt x="26366" y="1491"/>
                </a:lnTo>
                <a:lnTo>
                  <a:pt x="18979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ubTitle" idx="4"/>
          </p:nvPr>
        </p:nvSpPr>
        <p:spPr>
          <a:xfrm>
            <a:off x="439826" y="1804014"/>
            <a:ext cx="3236824" cy="62812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000" dirty="0">
                <a:latin typeface="Gill Sans MT"/>
                <a:cs typeface="Gill Sans MT"/>
              </a:rPr>
              <a:t>Team</a:t>
            </a:r>
            <a:r>
              <a:rPr sz="1000" spc="3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ID</a:t>
            </a:r>
            <a:r>
              <a:rPr lang="en-IN" sz="100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:</a:t>
            </a:r>
            <a:r>
              <a:rPr sz="1000" spc="35" dirty="0">
                <a:latin typeface="Gill Sans MT"/>
                <a:cs typeface="Gill Sans MT"/>
              </a:rPr>
              <a:t> </a:t>
            </a:r>
            <a:r>
              <a:rPr lang="en-IN" sz="1000" spc="35" dirty="0">
                <a:cs typeface="Gill Sans MT"/>
              </a:rPr>
              <a:t>GEN26-A0H-I014</a:t>
            </a:r>
            <a:endParaRPr sz="1000" dirty="0">
              <a:cs typeface="Gill Sans MT"/>
            </a:endParaRPr>
          </a:p>
          <a:p>
            <a:pPr marL="12700" marR="5080">
              <a:lnSpc>
                <a:spcPct val="158800"/>
              </a:lnSpc>
            </a:pPr>
            <a:r>
              <a:rPr sz="1000" dirty="0">
                <a:latin typeface="Gill Sans MT"/>
                <a:cs typeface="Gill Sans MT"/>
              </a:rPr>
              <a:t>Team</a:t>
            </a:r>
            <a:r>
              <a:rPr sz="1000" spc="2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Name</a:t>
            </a:r>
            <a:r>
              <a:rPr lang="en-IN" sz="1000" dirty="0">
                <a:latin typeface="Gill Sans MT"/>
                <a:cs typeface="Gill Sans MT"/>
              </a:rPr>
              <a:t> </a:t>
            </a:r>
            <a:r>
              <a:rPr sz="1000" dirty="0">
                <a:latin typeface="+mj-lt"/>
                <a:cs typeface="Gill Sans MT"/>
              </a:rPr>
              <a:t>:</a:t>
            </a:r>
            <a:r>
              <a:rPr lang="en-IN" sz="1000" spc="175" dirty="0">
                <a:latin typeface="+mj-lt"/>
                <a:cs typeface="Gill Sans MT"/>
              </a:rPr>
              <a:t> Data Alchemists</a:t>
            </a:r>
          </a:p>
          <a:p>
            <a:pPr marL="12700" marR="5080">
              <a:lnSpc>
                <a:spcPct val="158800"/>
              </a:lnSpc>
            </a:pPr>
            <a:r>
              <a:rPr sz="1000" dirty="0">
                <a:latin typeface="Gill Sans MT"/>
                <a:cs typeface="Gill Sans MT"/>
              </a:rPr>
              <a:t>Domain</a:t>
            </a:r>
            <a:r>
              <a:rPr lang="en-IN" sz="1000" dirty="0">
                <a:latin typeface="Gill Sans MT"/>
                <a:cs typeface="Gill Sans MT"/>
              </a:rPr>
              <a:t> </a:t>
            </a:r>
            <a:r>
              <a:rPr sz="1000" dirty="0">
                <a:latin typeface="Gill Sans MT"/>
                <a:cs typeface="Gill Sans MT"/>
              </a:rPr>
              <a:t>:</a:t>
            </a:r>
            <a:r>
              <a:rPr sz="1000" spc="155" dirty="0">
                <a:latin typeface="Gill Sans MT"/>
                <a:cs typeface="Gill Sans MT"/>
              </a:rPr>
              <a:t> </a:t>
            </a:r>
            <a:r>
              <a:rPr lang="en-IN" sz="1000" dirty="0">
                <a:latin typeface="+mj-lt"/>
                <a:cs typeface="Gill Sans MT"/>
              </a:rPr>
              <a:t>2 – Energy, Mobility and Smart Infrastructure</a:t>
            </a:r>
            <a:endParaRPr sz="1000" dirty="0">
              <a:latin typeface="+mj-lt"/>
              <a:cs typeface="Gill Sans MT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11302" y="2771058"/>
            <a:ext cx="253936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dirty="0">
                <a:solidFill>
                  <a:srgbClr val="154B33"/>
                </a:solidFill>
                <a:latin typeface="Arial"/>
                <a:cs typeface="Arial"/>
              </a:rPr>
              <a:t>Amrita</a:t>
            </a:r>
            <a:r>
              <a:rPr sz="900" spc="20" dirty="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54B33"/>
                </a:solidFill>
                <a:latin typeface="Arial"/>
                <a:cs typeface="Arial"/>
              </a:rPr>
              <a:t>Vishwa</a:t>
            </a:r>
            <a:r>
              <a:rPr sz="900" spc="25" dirty="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sz="900" spc="-25" dirty="0">
                <a:solidFill>
                  <a:srgbClr val="154B33"/>
                </a:solidFill>
                <a:latin typeface="Arial"/>
                <a:cs typeface="Arial"/>
              </a:rPr>
              <a:t>Vidyapeetham,</a:t>
            </a:r>
            <a:r>
              <a:rPr sz="900" spc="25" dirty="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54B33"/>
                </a:solidFill>
                <a:latin typeface="Arial"/>
                <a:cs typeface="Arial"/>
              </a:rPr>
              <a:t>Coimbatore</a:t>
            </a:r>
            <a:r>
              <a:rPr sz="900" spc="25" dirty="0">
                <a:solidFill>
                  <a:srgbClr val="154B33"/>
                </a:solidFill>
                <a:latin typeface="Arial"/>
                <a:cs typeface="Arial"/>
              </a:rPr>
              <a:t> </a:t>
            </a:r>
            <a:r>
              <a:rPr sz="900" spc="-20" dirty="0">
                <a:solidFill>
                  <a:srgbClr val="154B33"/>
                </a:solidFill>
                <a:latin typeface="Arial"/>
                <a:cs typeface="Arial"/>
              </a:rPr>
              <a:t>Campus</a:t>
            </a:r>
            <a:endParaRPr sz="9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003232" y="2771058"/>
            <a:ext cx="12934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50" dirty="0">
                <a:latin typeface="Arial Black"/>
                <a:cs typeface="Arial Black"/>
              </a:rPr>
              <a:t>Date:</a:t>
            </a:r>
            <a:r>
              <a:rPr sz="900" spc="20" dirty="0">
                <a:latin typeface="Arial Black"/>
                <a:cs typeface="Arial Black"/>
              </a:rPr>
              <a:t> </a:t>
            </a:r>
            <a:r>
              <a:rPr sz="900" dirty="0">
                <a:latin typeface="Arial"/>
                <a:cs typeface="Arial"/>
              </a:rPr>
              <a:t>11th</a:t>
            </a:r>
            <a:r>
              <a:rPr sz="900" spc="-10" dirty="0">
                <a:latin typeface="Arial"/>
                <a:cs typeface="Arial"/>
              </a:rPr>
              <a:t> October </a:t>
            </a:r>
            <a:r>
              <a:rPr sz="900" spc="-20" dirty="0">
                <a:latin typeface="Arial"/>
                <a:cs typeface="Arial"/>
              </a:rPr>
              <a:t>2026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4048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lang="en-IN" sz="1100" spc="-13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Presentation</a:t>
            </a:r>
            <a:r>
              <a:rPr lang="en-IN" sz="1100" spc="12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 </a:t>
            </a:r>
            <a:r>
              <a:rPr lang="en-IN" sz="1100" spc="-90">
                <a:latin typeface="ADLaM Display" panose="02010000000000000000" pitchFamily="2" charset="0"/>
                <a:ea typeface="ADLaM Display" panose="02010000000000000000" pitchFamily="2" charset="0"/>
                <a:cs typeface="ADLaM Display" panose="02010000000000000000" pitchFamily="2" charset="0"/>
              </a:rPr>
              <a:t>Outline</a:t>
            </a:r>
            <a:endParaRPr lang="en-IN" sz="1100">
              <a:latin typeface="ADLaM Display" panose="02010000000000000000" pitchFamily="2" charset="0"/>
              <a:ea typeface="ADLaM Display" panose="02010000000000000000" pitchFamily="2" charset="0"/>
              <a:cs typeface="ADLaM Display" panose="02010000000000000000" pitchFamily="2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0" y="316801"/>
            <a:ext cx="4608195" cy="17780"/>
          </a:xfrm>
          <a:custGeom>
            <a:avLst/>
            <a:gdLst/>
            <a:ahLst/>
            <a:cxnLst/>
            <a:rect l="l" t="t" r="r" b="b"/>
            <a:pathLst>
              <a:path w="4608195" h="17779">
                <a:moveTo>
                  <a:pt x="4608004" y="0"/>
                </a:moveTo>
                <a:lnTo>
                  <a:pt x="0" y="0"/>
                </a:lnTo>
                <a:lnTo>
                  <a:pt x="0" y="17716"/>
                </a:lnTo>
                <a:lnTo>
                  <a:pt x="4608004" y="17716"/>
                </a:lnTo>
                <a:lnTo>
                  <a:pt x="4608004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311302" y="1191200"/>
            <a:ext cx="1515745" cy="95694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/>
              <a:tabLst>
                <a:tab pos="154305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Problem</a:t>
            </a:r>
            <a:r>
              <a:rPr sz="900" spc="-45" dirty="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2" action="ppaction://hlinksldjump"/>
              </a:rPr>
              <a:t>Statement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Problem</a:t>
            </a:r>
            <a:r>
              <a:rPr sz="900" spc="-45" dirty="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3" action="ppaction://hlinksldjump"/>
              </a:rPr>
              <a:t>Understanding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Existing</a:t>
            </a:r>
            <a:r>
              <a:rPr sz="900" spc="15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900" spc="-60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Gaps</a:t>
            </a:r>
            <a:r>
              <a:rPr sz="900" spc="15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900" spc="95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&amp;</a:t>
            </a:r>
            <a:r>
              <a:rPr sz="900" spc="15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 </a:t>
            </a:r>
            <a:r>
              <a:rPr sz="900" spc="-40" dirty="0">
                <a:solidFill>
                  <a:srgbClr val="154B33"/>
                </a:solidFill>
                <a:latin typeface="Arial"/>
                <a:cs typeface="Arial"/>
                <a:hlinkClick r:id="rId4" action="ppaction://hlinksldjump"/>
              </a:rPr>
              <a:t>Challenges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sz="900" dirty="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Our</a:t>
            </a:r>
            <a:r>
              <a:rPr sz="900" spc="10" dirty="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900" spc="-35" dirty="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Proposed</a:t>
            </a:r>
            <a:r>
              <a:rPr sz="900" spc="15" dirty="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5" action="ppaction://hlinksldjump"/>
              </a:rPr>
              <a:t>Solution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/>
              <a:tabLst>
                <a:tab pos="154305" algn="l"/>
              </a:tabLst>
            </a:pPr>
            <a:r>
              <a:rPr sz="900" spc="-25" dirty="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Technical</a:t>
            </a:r>
            <a:r>
              <a:rPr sz="900" spc="10" dirty="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6" action="ppaction://hlinksldjump"/>
              </a:rPr>
              <a:t>Approach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/>
              <a:tabLst>
                <a:tab pos="154305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Innovation</a:t>
            </a:r>
            <a:r>
              <a:rPr sz="900" spc="20" dirty="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900" spc="95" dirty="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&amp;</a:t>
            </a:r>
            <a:r>
              <a:rPr sz="900" spc="20" dirty="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7" action="ppaction://hlinksldjump"/>
              </a:rPr>
              <a:t>Uniqueness</a:t>
            </a:r>
            <a:endParaRPr sz="9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370518" y="1191200"/>
            <a:ext cx="1790700" cy="956944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54305" indent="-141605">
              <a:lnSpc>
                <a:spcPct val="100000"/>
              </a:lnSpc>
              <a:spcBef>
                <a:spcPts val="240"/>
              </a:spcBef>
              <a:buAutoNum type="arabicPeriod" startAt="7"/>
              <a:tabLst>
                <a:tab pos="154305" algn="l"/>
              </a:tabLst>
            </a:pPr>
            <a:r>
              <a:rPr sz="900" spc="-20" dirty="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Feasibility</a:t>
            </a:r>
            <a:r>
              <a:rPr sz="900" spc="50" dirty="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900" spc="95" dirty="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&amp;</a:t>
            </a:r>
            <a:r>
              <a:rPr sz="900" spc="55" dirty="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8" action="ppaction://hlinksldjump"/>
              </a:rPr>
              <a:t>Scalability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154305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Cost </a:t>
            </a:r>
            <a:r>
              <a:rPr sz="900" dirty="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for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9" action="ppaction://hlinksldjump"/>
              </a:rPr>
              <a:t> Product</a:t>
            </a:r>
            <a:endParaRPr sz="900">
              <a:latin typeface="Arial"/>
              <a:cs typeface="Arial"/>
            </a:endParaRPr>
          </a:p>
          <a:p>
            <a:pPr marL="154305" indent="-141605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154305" algn="l"/>
              </a:tabLst>
            </a:pPr>
            <a:r>
              <a:rPr sz="900" spc="-55" dirty="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Use</a:t>
            </a:r>
            <a:r>
              <a:rPr sz="900" dirty="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0" action="ppaction://hlinksldjump"/>
              </a:rPr>
              <a:t>Cases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Impacts</a:t>
            </a:r>
            <a:r>
              <a:rPr sz="900" spc="-35" dirty="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and</a:t>
            </a:r>
            <a:r>
              <a:rPr sz="900" spc="-30" dirty="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1" action="ppaction://hlinksldjump"/>
              </a:rPr>
              <a:t>Benefits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5"/>
              </a:spcBef>
              <a:buAutoNum type="arabicPeriod" startAt="7"/>
              <a:tabLst>
                <a:tab pos="212090" algn="l"/>
              </a:tabLst>
            </a:pPr>
            <a:r>
              <a:rPr sz="900" spc="-35" dirty="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Sustainable</a:t>
            </a:r>
            <a:r>
              <a:rPr sz="900" spc="10" dirty="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900" spc="-25" dirty="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Development</a:t>
            </a:r>
            <a:r>
              <a:rPr sz="900" spc="15" dirty="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2" action="ppaction://hlinksldjump"/>
              </a:rPr>
              <a:t>Goals</a:t>
            </a:r>
            <a:endParaRPr sz="900">
              <a:latin typeface="Arial"/>
              <a:cs typeface="Arial"/>
            </a:endParaRPr>
          </a:p>
          <a:p>
            <a:pPr marL="212090" indent="-199390">
              <a:lnSpc>
                <a:spcPct val="100000"/>
              </a:lnSpc>
              <a:spcBef>
                <a:spcPts val="140"/>
              </a:spcBef>
              <a:buAutoNum type="arabicPeriod" startAt="7"/>
              <a:tabLst>
                <a:tab pos="212090" algn="l"/>
              </a:tabLst>
            </a:pP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Individual</a:t>
            </a:r>
            <a:r>
              <a:rPr sz="900" spc="5" dirty="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Member</a:t>
            </a:r>
            <a:r>
              <a:rPr sz="900" spc="5" dirty="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 </a:t>
            </a:r>
            <a:r>
              <a:rPr sz="900" spc="-10" dirty="0">
                <a:solidFill>
                  <a:srgbClr val="154B33"/>
                </a:solidFill>
                <a:latin typeface="Arial"/>
                <a:cs typeface="Arial"/>
                <a:hlinkClick r:id="rId13" action="ppaction://hlinksldjump"/>
              </a:rPr>
              <a:t>Contribution</a:t>
            </a:r>
            <a:endParaRPr sz="900">
              <a:latin typeface="Arial"/>
              <a:cs typeface="Arial"/>
            </a:endParaRPr>
          </a:p>
        </p:txBody>
      </p:sp>
    </p:spTree>
  </p:cSld>
  <p:clrMapOvr>
    <a:masterClrMapping/>
  </p:clrMapOvr>
  <p:transition>
    <p:cut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 dirty="0">
                <a:latin typeface="Arial Black"/>
                <a:cs typeface="Arial Black"/>
              </a:rPr>
              <a:t>Problem</a:t>
            </a:r>
            <a:r>
              <a:rPr sz="1100" spc="65" dirty="0">
                <a:latin typeface="Arial Black"/>
                <a:cs typeface="Arial Black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Statement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5431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273189" y="745883"/>
            <a:ext cx="3810000" cy="1705610"/>
          </a:xfrm>
          <a:custGeom>
            <a:avLst/>
            <a:gdLst/>
            <a:ahLst/>
            <a:cxnLst/>
            <a:rect l="l" t="t" r="r" b="b"/>
            <a:pathLst>
              <a:path w="3810000" h="1705610">
                <a:moveTo>
                  <a:pt x="3809657" y="44411"/>
                </a:moveTo>
                <a:lnTo>
                  <a:pt x="3808349" y="44411"/>
                </a:lnTo>
                <a:lnTo>
                  <a:pt x="3805656" y="31076"/>
                </a:lnTo>
                <a:lnTo>
                  <a:pt x="3794734" y="14922"/>
                </a:lnTo>
                <a:lnTo>
                  <a:pt x="3778580" y="4013"/>
                </a:lnTo>
                <a:lnTo>
                  <a:pt x="3758857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11"/>
                </a:lnTo>
                <a:lnTo>
                  <a:pt x="0" y="44411"/>
                </a:lnTo>
                <a:lnTo>
                  <a:pt x="0" y="50800"/>
                </a:lnTo>
                <a:lnTo>
                  <a:pt x="0" y="82384"/>
                </a:lnTo>
                <a:lnTo>
                  <a:pt x="0" y="1654606"/>
                </a:lnTo>
                <a:lnTo>
                  <a:pt x="4013" y="1674342"/>
                </a:lnTo>
                <a:lnTo>
                  <a:pt x="14922" y="1690497"/>
                </a:lnTo>
                <a:lnTo>
                  <a:pt x="31076" y="1701406"/>
                </a:lnTo>
                <a:lnTo>
                  <a:pt x="50812" y="1705419"/>
                </a:lnTo>
                <a:lnTo>
                  <a:pt x="3758857" y="1705419"/>
                </a:lnTo>
                <a:lnTo>
                  <a:pt x="3778580" y="1701406"/>
                </a:lnTo>
                <a:lnTo>
                  <a:pt x="3794734" y="1690497"/>
                </a:lnTo>
                <a:lnTo>
                  <a:pt x="3805656" y="1674342"/>
                </a:lnTo>
                <a:lnTo>
                  <a:pt x="3809657" y="1654606"/>
                </a:lnTo>
                <a:lnTo>
                  <a:pt x="3809657" y="82384"/>
                </a:lnTo>
                <a:lnTo>
                  <a:pt x="3809657" y="50800"/>
                </a:lnTo>
                <a:lnTo>
                  <a:pt x="3809657" y="44411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47650" y="815975"/>
            <a:ext cx="4190999" cy="19166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38430" marR="412750">
              <a:lnSpc>
                <a:spcPct val="113100"/>
              </a:lnSpc>
              <a:spcBef>
                <a:spcPts val="100"/>
              </a:spcBef>
            </a:pPr>
            <a:r>
              <a:rPr lang="en-US" sz="1000" b="1" dirty="0"/>
              <a:t>How can a university reduce avoidable resource use while keeping essential campus services?</a:t>
            </a:r>
            <a:endParaRPr sz="1000" b="1" dirty="0">
              <a:latin typeface="Arial Rounded MT Bold" panose="020F0704030504030204" pitchFamily="34" charset="0"/>
              <a:cs typeface="Arial Black"/>
            </a:endParaRPr>
          </a:p>
          <a:p>
            <a:pPr marL="138430" marR="505459">
              <a:lnSpc>
                <a:spcPct val="113100"/>
              </a:lnSpc>
              <a:spcBef>
                <a:spcPts val="600"/>
              </a:spcBef>
            </a:pPr>
            <a:r>
              <a:rPr sz="900" spc="-10" dirty="0">
                <a:latin typeface="Arial"/>
                <a:cs typeface="Arial"/>
              </a:rPr>
              <a:t>Electricity, water, </a:t>
            </a:r>
            <a:r>
              <a:rPr sz="900" spc="-20" dirty="0">
                <a:latin typeface="Arial"/>
                <a:cs typeface="Arial"/>
              </a:rPr>
              <a:t>rooms,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meals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 </a:t>
            </a:r>
            <a:r>
              <a:rPr sz="900" dirty="0">
                <a:latin typeface="Arial"/>
                <a:cs typeface="Arial"/>
              </a:rPr>
              <a:t>transport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depend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same </a:t>
            </a:r>
            <a:r>
              <a:rPr sz="900" spc="-35" dirty="0">
                <a:latin typeface="Arial"/>
                <a:cs typeface="Arial"/>
              </a:rPr>
              <a:t>campus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activities.</a:t>
            </a:r>
            <a:r>
              <a:rPr sz="900" spc="10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decision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improves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one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service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create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30" dirty="0">
                <a:latin typeface="Arial"/>
                <a:cs typeface="Arial"/>
              </a:rPr>
              <a:t> shortage,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delay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capacity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conflict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elsewhere.</a:t>
            </a:r>
            <a:endParaRPr sz="900" dirty="0">
              <a:latin typeface="Arial"/>
              <a:cs typeface="Arial"/>
            </a:endParaRPr>
          </a:p>
          <a:p>
            <a:pPr marL="138430" marR="441325">
              <a:lnSpc>
                <a:spcPct val="113100"/>
              </a:lnSpc>
              <a:spcBef>
                <a:spcPts val="595"/>
              </a:spcBef>
            </a:pPr>
            <a:r>
              <a:rPr sz="900" spc="-35" dirty="0">
                <a:latin typeface="Arial"/>
                <a:cs typeface="Arial"/>
              </a:rPr>
              <a:t>CampusWatch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x360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proposes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shared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decision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process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that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connects </a:t>
            </a:r>
            <a:r>
              <a:rPr lang="en-US" sz="900" b="1" dirty="0"/>
              <a:t>current evidences ,expected demand and operational constraints</a:t>
            </a:r>
            <a:r>
              <a:rPr sz="900" b="1" spc="-35" dirty="0">
                <a:latin typeface="Arial Black"/>
                <a:cs typeface="Arial Black"/>
              </a:rPr>
              <a:t> </a:t>
            </a:r>
            <a:r>
              <a:rPr sz="900" spc="-25" dirty="0">
                <a:latin typeface="Arial"/>
                <a:cs typeface="Arial"/>
              </a:rPr>
              <a:t>before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recommending</a:t>
            </a:r>
            <a:r>
              <a:rPr sz="900" dirty="0">
                <a:latin typeface="Arial"/>
                <a:cs typeface="Arial"/>
              </a:rPr>
              <a:t> an </a:t>
            </a:r>
            <a:r>
              <a:rPr sz="900" spc="-10" dirty="0">
                <a:latin typeface="Arial"/>
                <a:cs typeface="Arial"/>
              </a:rPr>
              <a:t>action.</a:t>
            </a:r>
            <a:endParaRPr sz="9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785"/>
              </a:spcBef>
            </a:pPr>
            <a:endParaRPr sz="900" dirty="0">
              <a:latin typeface="Arial"/>
              <a:cs typeface="Arial"/>
            </a:endParaRPr>
          </a:p>
          <a:p>
            <a:pPr marL="12700" marR="5080">
              <a:lnSpc>
                <a:spcPct val="117300"/>
              </a:lnSpc>
            </a:pPr>
            <a:r>
              <a:rPr lang="en-IN" sz="65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Research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foundation:</a:t>
            </a:r>
            <a:r>
              <a:rPr sz="650" spc="2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[1]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Bonnet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al.,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2002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;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[3]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Antunes-Batista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al.,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2026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.</a:t>
            </a:r>
            <a:r>
              <a:rPr sz="650" spc="2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Five-service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integration</a:t>
            </a:r>
            <a:r>
              <a:rPr sz="650" spc="5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is</a:t>
            </a:r>
            <a:r>
              <a:rPr sz="650" spc="5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lang="en-IN" sz="650" spc="55" dirty="0">
                <a:solidFill>
                  <a:srgbClr val="154B33"/>
                </a:solidFill>
                <a:latin typeface="Tahoma"/>
                <a:cs typeface="Tahoma"/>
              </a:rPr>
              <a:t>  </a:t>
            </a:r>
          </a:p>
          <a:p>
            <a:pPr marL="12700" marR="5080">
              <a:lnSpc>
                <a:spcPct val="117300"/>
              </a:lnSpc>
            </a:pPr>
            <a:r>
              <a:rPr lang="en-IN" sz="650" spc="5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our</a:t>
            </a:r>
            <a:r>
              <a:rPr sz="650" spc="6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proposed</a:t>
            </a:r>
            <a:r>
              <a:rPr sz="650" spc="5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design.</a:t>
            </a:r>
            <a:endParaRPr sz="65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965AF-0106-024F-790F-2959866D4C85}"/>
              </a:ext>
            </a:extLst>
          </p:cNvPr>
          <p:cNvSpPr txBox="1"/>
          <p:nvPr/>
        </p:nvSpPr>
        <p:spPr>
          <a:xfrm>
            <a:off x="220089" y="355566"/>
            <a:ext cx="4114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900" dirty="0"/>
              <a:t>  “An Al-powered campus system that predicts cascading impacts and    recommends smarter decisions across interconnected university operations.”</a:t>
            </a:r>
            <a:endParaRPr lang="en-IN" sz="900" dirty="0"/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0" dirty="0">
                <a:latin typeface="Arial Black"/>
                <a:cs typeface="Arial Black"/>
              </a:rPr>
              <a:t>Problem</a:t>
            </a:r>
            <a:r>
              <a:rPr sz="1100" spc="65" dirty="0">
                <a:latin typeface="Arial Black"/>
                <a:cs typeface="Arial Black"/>
              </a:rPr>
              <a:t> </a:t>
            </a:r>
            <a:r>
              <a:rPr sz="1100" spc="-120" dirty="0">
                <a:latin typeface="Arial Black"/>
                <a:cs typeface="Arial Black"/>
              </a:rPr>
              <a:t>Understanding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81546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7101" y="1407502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844370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228123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311302" y="722570"/>
            <a:ext cx="3984625" cy="21621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marR="291465" algn="just">
              <a:lnSpc>
                <a:spcPct val="113100"/>
              </a:lnSpc>
              <a:spcBef>
                <a:spcPts val="100"/>
              </a:spcBef>
            </a:pPr>
            <a:r>
              <a:rPr lang="en-IN" sz="900" b="1" spc="-35" dirty="0">
                <a:latin typeface="Arial"/>
                <a:cs typeface="Arial"/>
              </a:rPr>
              <a:t>Users:</a:t>
            </a:r>
            <a:r>
              <a:rPr lang="en-IN" sz="900" spc="-3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campus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administrators,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facilities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teams,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room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schedulers,</a:t>
            </a:r>
            <a:r>
              <a:rPr sz="900" spc="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hostel </a:t>
            </a:r>
            <a:r>
              <a:rPr sz="900" spc="-40" dirty="0">
                <a:latin typeface="Arial"/>
                <a:cs typeface="Arial"/>
              </a:rPr>
              <a:t>wardens,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mess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managers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transport</a:t>
            </a:r>
            <a:r>
              <a:rPr sz="900" spc="-6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coordinators.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Students</a:t>
            </a:r>
            <a:r>
              <a:rPr sz="900" spc="-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and</a:t>
            </a:r>
            <a:r>
              <a:rPr sz="900" spc="-3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staff </a:t>
            </a:r>
            <a:r>
              <a:rPr sz="900" spc="-40" dirty="0">
                <a:latin typeface="Arial"/>
                <a:cs typeface="Arial"/>
              </a:rPr>
              <a:t>depend</a:t>
            </a:r>
            <a:r>
              <a:rPr sz="900" dirty="0">
                <a:latin typeface="Arial"/>
                <a:cs typeface="Arial"/>
              </a:rPr>
              <a:t> on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their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decisions</a:t>
            </a:r>
            <a:r>
              <a:rPr lang="en-IN" sz="900" spc="-10" dirty="0">
                <a:latin typeface="Arial"/>
                <a:cs typeface="Arial"/>
              </a:rPr>
              <a:t>.</a:t>
            </a:r>
            <a:endParaRPr lang="en-US" sz="900" dirty="0">
              <a:latin typeface="Arial"/>
              <a:cs typeface="Arial"/>
            </a:endParaRPr>
          </a:p>
          <a:p>
            <a:pPr marL="175895" marR="301625" algn="just">
              <a:lnSpc>
                <a:spcPct val="113100"/>
              </a:lnSpc>
              <a:spcBef>
                <a:spcPts val="994"/>
              </a:spcBef>
            </a:pPr>
            <a:r>
              <a:rPr lang="en-US" sz="900" b="1" spc="-40" dirty="0">
                <a:latin typeface="Arial"/>
                <a:cs typeface="Arial"/>
              </a:rPr>
              <a:t>Causes to address </a:t>
            </a:r>
            <a:r>
              <a:rPr lang="en-US" sz="900" spc="-40" dirty="0">
                <a:latin typeface="Arial"/>
                <a:cs typeface="Arial"/>
              </a:rPr>
              <a:t>: disconnected</a:t>
            </a:r>
            <a:r>
              <a:rPr lang="en-US" sz="900" dirty="0">
                <a:latin typeface="Arial"/>
                <a:cs typeface="Arial"/>
              </a:rPr>
              <a:t> </a:t>
            </a:r>
            <a:r>
              <a:rPr lang="en-US" sz="900" spc="-35" dirty="0">
                <a:latin typeface="Arial"/>
                <a:cs typeface="Arial"/>
              </a:rPr>
              <a:t>records,</a:t>
            </a:r>
            <a:r>
              <a:rPr lang="en-US" sz="900" spc="30" dirty="0">
                <a:latin typeface="Arial"/>
                <a:cs typeface="Arial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uncertain</a:t>
            </a:r>
            <a:r>
              <a:rPr lang="en-US" sz="900" spc="25" dirty="0">
                <a:latin typeface="Arial"/>
                <a:cs typeface="Arial"/>
              </a:rPr>
              <a:t> </a:t>
            </a:r>
            <a:r>
              <a:rPr lang="en-US" sz="900" spc="-25" dirty="0">
                <a:latin typeface="Arial"/>
                <a:cs typeface="Arial"/>
              </a:rPr>
              <a:t>attendance,</a:t>
            </a:r>
            <a:r>
              <a:rPr lang="en-US" sz="900" spc="30" dirty="0">
                <a:latin typeface="Arial"/>
                <a:cs typeface="Arial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poorly </a:t>
            </a:r>
            <a:r>
              <a:rPr lang="en-US" sz="900" spc="-30" dirty="0">
                <a:latin typeface="Arial"/>
                <a:cs typeface="Arial"/>
              </a:rPr>
              <a:t>mapped</a:t>
            </a:r>
            <a:r>
              <a:rPr lang="en-US" sz="900" spc="-20" dirty="0">
                <a:latin typeface="Arial"/>
                <a:cs typeface="Arial"/>
              </a:rPr>
              <a:t> </a:t>
            </a:r>
            <a:r>
              <a:rPr lang="en-US" sz="900" spc="-25" dirty="0">
                <a:latin typeface="Arial"/>
                <a:cs typeface="Arial"/>
              </a:rPr>
              <a:t>meters</a:t>
            </a:r>
            <a:r>
              <a:rPr lang="en-US" sz="900" spc="-15" dirty="0">
                <a:latin typeface="Arial"/>
                <a:cs typeface="Arial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and</a:t>
            </a:r>
            <a:r>
              <a:rPr lang="en-US" sz="900" spc="-15" dirty="0">
                <a:latin typeface="Arial"/>
                <a:cs typeface="Arial"/>
              </a:rPr>
              <a:t> </a:t>
            </a:r>
            <a:r>
              <a:rPr lang="en-US" sz="900" spc="-30" dirty="0">
                <a:latin typeface="Arial"/>
                <a:cs typeface="Arial"/>
              </a:rPr>
              <a:t>changing</a:t>
            </a:r>
            <a:r>
              <a:rPr lang="en-US" sz="900" spc="-20" dirty="0">
                <a:latin typeface="Arial"/>
                <a:cs typeface="Arial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event</a:t>
            </a:r>
            <a:r>
              <a:rPr lang="en-US" sz="900" spc="-15" dirty="0">
                <a:latin typeface="Arial"/>
                <a:cs typeface="Arial"/>
              </a:rPr>
              <a:t> </a:t>
            </a:r>
            <a:r>
              <a:rPr lang="en-US" sz="900" dirty="0">
                <a:latin typeface="Arial"/>
                <a:cs typeface="Arial"/>
              </a:rPr>
              <a:t>or</a:t>
            </a:r>
            <a:r>
              <a:rPr lang="en-US" sz="900" spc="-15" dirty="0">
                <a:latin typeface="Arial"/>
                <a:cs typeface="Arial"/>
              </a:rPr>
              <a:t> </a:t>
            </a:r>
            <a:r>
              <a:rPr lang="en-US" sz="900" spc="-40" dirty="0">
                <a:latin typeface="Arial"/>
                <a:cs typeface="Arial"/>
              </a:rPr>
              <a:t>service</a:t>
            </a:r>
            <a:r>
              <a:rPr lang="en-US" sz="900" spc="-20" dirty="0">
                <a:latin typeface="Arial"/>
                <a:cs typeface="Arial"/>
              </a:rPr>
              <a:t> </a:t>
            </a:r>
            <a:r>
              <a:rPr lang="en-US" sz="900" spc="-10" dirty="0">
                <a:latin typeface="Arial"/>
                <a:cs typeface="Arial"/>
              </a:rPr>
              <a:t>schedules.</a:t>
            </a:r>
            <a:endParaRPr lang="en-US" sz="900" dirty="0">
              <a:latin typeface="Arial"/>
              <a:cs typeface="Arial"/>
            </a:endParaRPr>
          </a:p>
          <a:p>
            <a:pPr marL="175895" marR="5080">
              <a:lnSpc>
                <a:spcPct val="113100"/>
              </a:lnSpc>
              <a:spcBef>
                <a:spcPts val="1000"/>
              </a:spcBef>
            </a:pPr>
            <a:r>
              <a:rPr lang="en-IN" sz="900" b="1" spc="-35" dirty="0">
                <a:latin typeface="Arial"/>
                <a:cs typeface="Arial"/>
              </a:rPr>
              <a:t>Consequences: </a:t>
            </a:r>
            <a:r>
              <a:rPr sz="900" spc="-35" dirty="0">
                <a:latin typeface="Arial"/>
                <a:cs typeface="Arial"/>
              </a:rPr>
              <a:t>avoidable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consumption,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conflicting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room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choices,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excess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food </a:t>
            </a:r>
            <a:r>
              <a:rPr sz="900" spc="-25" dirty="0">
                <a:latin typeface="Arial"/>
                <a:cs typeface="Arial"/>
              </a:rPr>
              <a:t>preparation,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queues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poorly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timed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trips.</a:t>
            </a:r>
            <a:endParaRPr sz="900" dirty="0">
              <a:latin typeface="Arial"/>
              <a:cs typeface="Arial"/>
            </a:endParaRPr>
          </a:p>
          <a:p>
            <a:pPr marL="175895" marR="311785">
              <a:lnSpc>
                <a:spcPct val="113100"/>
              </a:lnSpc>
              <a:spcBef>
                <a:spcPts val="994"/>
              </a:spcBef>
            </a:pPr>
            <a:r>
              <a:rPr lang="en-IN" sz="900" b="1" spc="-10" dirty="0">
                <a:latin typeface="Arial"/>
                <a:cs typeface="Arial"/>
              </a:rPr>
              <a:t>Pilot context</a:t>
            </a:r>
            <a:r>
              <a:rPr lang="en-IN" sz="900" spc="-10" dirty="0">
                <a:latin typeface="Arial"/>
                <a:cs typeface="Arial"/>
              </a:rPr>
              <a:t>: </a:t>
            </a:r>
            <a:r>
              <a:rPr sz="900" spc="-10" dirty="0">
                <a:latin typeface="Arial"/>
                <a:cs typeface="Arial"/>
              </a:rPr>
              <a:t>begin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Amrita’s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first-</a:t>
            </a:r>
            <a:r>
              <a:rPr sz="900" spc="-30" dirty="0">
                <a:latin typeface="Arial"/>
                <a:cs typeface="Arial"/>
              </a:rPr>
              <a:t>year</a:t>
            </a:r>
            <a:r>
              <a:rPr sz="900" spc="30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academic-</a:t>
            </a:r>
            <a:r>
              <a:rPr sz="900" spc="-10" dirty="0">
                <a:latin typeface="Arial"/>
                <a:cs typeface="Arial"/>
              </a:rPr>
              <a:t>block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electricity </a:t>
            </a:r>
            <a:r>
              <a:rPr sz="900" spc="-25" dirty="0">
                <a:latin typeface="Arial"/>
                <a:cs typeface="Arial"/>
              </a:rPr>
              <a:t>visualisation,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then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connect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selected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services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with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staff</a:t>
            </a:r>
            <a:r>
              <a:rPr sz="900" spc="2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approval.</a:t>
            </a:r>
            <a:endParaRPr sz="900" dirty="0">
              <a:latin typeface="Arial"/>
              <a:cs typeface="Arial"/>
            </a:endParaRPr>
          </a:p>
          <a:p>
            <a:pPr marL="12700" marR="323850">
              <a:lnSpc>
                <a:spcPct val="117300"/>
              </a:lnSpc>
              <a:spcBef>
                <a:spcPts val="1000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Campus</a:t>
            </a:r>
            <a:r>
              <a:rPr sz="650" spc="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resource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context:</a:t>
            </a:r>
            <a:r>
              <a:rPr sz="650" spc="1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[1]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Bonnet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et</a:t>
            </a:r>
            <a:r>
              <a:rPr sz="650" spc="85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al.,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2002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.</a:t>
            </a:r>
            <a:r>
              <a:rPr sz="650" spc="1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Causes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and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consequences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above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define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25" dirty="0">
                <a:solidFill>
                  <a:srgbClr val="154B33"/>
                </a:solidFill>
                <a:latin typeface="Tahoma"/>
                <a:cs typeface="Tahoma"/>
              </a:rPr>
              <a:t>the</a:t>
            </a:r>
            <a:r>
              <a:rPr sz="650" spc="5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proposed</a:t>
            </a:r>
            <a:r>
              <a:rPr sz="650" spc="1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pilot</a:t>
            </a:r>
            <a:r>
              <a:rPr sz="650" spc="114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problem,</a:t>
            </a:r>
            <a:r>
              <a:rPr sz="650" spc="1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not</a:t>
            </a:r>
            <a:r>
              <a:rPr sz="650" spc="114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measured</a:t>
            </a:r>
            <a:r>
              <a:rPr sz="650" spc="1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Amrita</a:t>
            </a:r>
            <a:r>
              <a:rPr sz="650" spc="1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losses.</a:t>
            </a:r>
            <a:endParaRPr sz="650" dirty="0">
              <a:latin typeface="Tahoma"/>
              <a:cs typeface="Tahoma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latin typeface="Arial Black"/>
                <a:cs typeface="Arial Black"/>
              </a:rPr>
              <a:t>Existing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70" dirty="0">
                <a:latin typeface="Arial Black"/>
                <a:cs typeface="Arial Black"/>
              </a:rPr>
              <a:t>Gaps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&amp;</a:t>
            </a:r>
            <a:r>
              <a:rPr sz="1100" spc="20" dirty="0">
                <a:latin typeface="Arial Black"/>
                <a:cs typeface="Arial Black"/>
              </a:rPr>
              <a:t> </a:t>
            </a:r>
            <a:r>
              <a:rPr sz="1100" spc="-130" dirty="0">
                <a:latin typeface="Arial Black"/>
                <a:cs typeface="Arial Black"/>
              </a:rPr>
              <a:t>Challenges</a:t>
            </a:r>
            <a:endParaRPr sz="1100" dirty="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5190" y="423697"/>
          <a:ext cx="3637280" cy="21539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88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8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50165" marR="255904">
                        <a:lnSpc>
                          <a:spcPct val="113100"/>
                        </a:lnSpc>
                        <a:spcBef>
                          <a:spcPts val="580"/>
                        </a:spcBef>
                      </a:pPr>
                      <a:r>
                        <a:rPr sz="900" spc="-13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Research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already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supports</a:t>
                      </a:r>
                      <a:endParaRPr sz="900" dirty="0">
                        <a:latin typeface="Arial Black"/>
                        <a:cs typeface="Arial Black"/>
                      </a:endParaRPr>
                    </a:p>
                  </a:txBody>
                  <a:tcPr marL="0" marR="0" marT="73660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9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CampusWatch’s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proposed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extension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38100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50165" marR="6985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Activity-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based</a:t>
                      </a:r>
                      <a:r>
                        <a:rPr sz="900" spc="7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energy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water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analysis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[1]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5778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Link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readings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to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campus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activities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compare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actions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across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services.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 marL="50165" marR="224154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Leak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analytics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connected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water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meters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[2,5]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46990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Combine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water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balance,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storage,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inspection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pumping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constraints.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 marL="50165" marR="20193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Room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optimisation and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radar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passage counting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[3,4]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57785" marR="43180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Combine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room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suitability,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demand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forecasts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service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dependencies.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394067" y="2810409"/>
            <a:ext cx="3819525" cy="23108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304800">
              <a:lnSpc>
                <a:spcPct val="106300"/>
              </a:lnSpc>
              <a:spcBef>
                <a:spcPts val="100"/>
              </a:spcBef>
            </a:pPr>
            <a:r>
              <a:rPr sz="700" spc="-75" dirty="0">
                <a:latin typeface="Arial Black"/>
                <a:cs typeface="Arial Black"/>
              </a:rPr>
              <a:t>Deployment</a:t>
            </a:r>
            <a:r>
              <a:rPr sz="700" spc="15" dirty="0">
                <a:latin typeface="Arial Black"/>
                <a:cs typeface="Arial Black"/>
              </a:rPr>
              <a:t> </a:t>
            </a:r>
            <a:r>
              <a:rPr sz="700" spc="-90" dirty="0">
                <a:latin typeface="Arial Black"/>
                <a:cs typeface="Arial Black"/>
              </a:rPr>
              <a:t>challenges:</a:t>
            </a:r>
            <a:r>
              <a:rPr sz="700" spc="30" dirty="0">
                <a:latin typeface="Arial Black"/>
                <a:cs typeface="Arial Black"/>
              </a:rPr>
              <a:t> </a:t>
            </a:r>
            <a:r>
              <a:rPr sz="700" dirty="0">
                <a:latin typeface="Tahoma"/>
                <a:cs typeface="Tahoma"/>
              </a:rPr>
              <a:t>data </a:t>
            </a:r>
            <a:r>
              <a:rPr sz="700" spc="-10" dirty="0">
                <a:latin typeface="Tahoma"/>
                <a:cs typeface="Tahoma"/>
              </a:rPr>
              <a:t>quality,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uncertain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demand,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sensor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coverage</a:t>
            </a:r>
            <a:r>
              <a:rPr sz="700" dirty="0">
                <a:latin typeface="Tahoma"/>
                <a:cs typeface="Tahoma"/>
              </a:rPr>
              <a:t> and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conflicting </a:t>
            </a:r>
            <a:r>
              <a:rPr sz="700" dirty="0">
                <a:latin typeface="Tahoma"/>
                <a:cs typeface="Tahoma"/>
              </a:rPr>
              <a:t>commitments.</a:t>
            </a:r>
            <a:r>
              <a:rPr sz="700" spc="8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Forecast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attendance does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not </a:t>
            </a:r>
            <a:r>
              <a:rPr sz="700" spc="-10" dirty="0">
                <a:latin typeface="Tahoma"/>
                <a:cs typeface="Tahoma"/>
              </a:rPr>
              <a:t>establish</a:t>
            </a:r>
            <a:r>
              <a:rPr sz="700" dirty="0">
                <a:latin typeface="Tahoma"/>
                <a:cs typeface="Tahoma"/>
              </a:rPr>
              <a:t> live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vacancy.</a:t>
            </a:r>
            <a:endParaRPr sz="700" dirty="0">
              <a:latin typeface="Tahoma"/>
              <a:cs typeface="Tahoma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70" dirty="0">
                <a:latin typeface="Arial Black"/>
                <a:cs typeface="Arial Black"/>
              </a:rPr>
              <a:t>Our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35" dirty="0">
                <a:latin typeface="Arial Black"/>
                <a:cs typeface="Arial Black"/>
              </a:rPr>
              <a:t>Proposed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Solution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23850" y="523247"/>
            <a:ext cx="4343400" cy="15068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algn="l">
              <a:lnSpc>
                <a:spcPct val="100000"/>
              </a:lnSpc>
              <a:spcBef>
                <a:spcPts val="95"/>
              </a:spcBef>
            </a:pPr>
            <a:r>
              <a:rPr lang="en-US" sz="900" dirty="0">
                <a:latin typeface="Arial Black"/>
                <a:cs typeface="Arial Black"/>
              </a:rPr>
              <a:t>    Five specialist engines, coordinated by one Campus Brain</a:t>
            </a:r>
            <a:endParaRPr sz="900" dirty="0">
              <a:latin typeface="Arial Black"/>
              <a:cs typeface="Arial Black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636712"/>
              </p:ext>
            </p:extLst>
          </p:nvPr>
        </p:nvGraphicFramePr>
        <p:xfrm>
          <a:off x="323850" y="760526"/>
          <a:ext cx="3886200" cy="199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14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System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Evidence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14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and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proposed</a:t>
                      </a:r>
                      <a:r>
                        <a:rPr sz="900" spc="6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decisions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 Black"/>
                          <a:cs typeface="Arial Black"/>
                        </a:rPr>
                        <a:t>Energy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Meter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readings:</a:t>
                      </a:r>
                      <a:r>
                        <a:rPr sz="900" spc="8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forecasts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load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shifts.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 Black"/>
                          <a:cs typeface="Arial Black"/>
                        </a:rPr>
                        <a:t>Water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Flow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tanks:</a:t>
                      </a:r>
                      <a:r>
                        <a:rPr sz="9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loss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and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reserve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checks.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50165" marR="29464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35" dirty="0">
                          <a:latin typeface="Arial Black"/>
                          <a:cs typeface="Arial Black"/>
                        </a:rPr>
                        <a:t>Space</a:t>
                      </a:r>
                      <a:r>
                        <a:rPr lang="en-IN" sz="900" spc="55" dirty="0">
                          <a:latin typeface="Arial Black"/>
                          <a:cs typeface="Arial Black"/>
                        </a:rPr>
                        <a:t> &amp;</a:t>
                      </a:r>
                      <a:r>
                        <a:rPr sz="900" spc="-130" dirty="0">
                          <a:latin typeface="Arial Black"/>
                          <a:cs typeface="Arial Black"/>
                        </a:rPr>
                        <a:t>Occupancy</a:t>
                      </a:r>
                      <a:endParaRPr sz="900" dirty="0">
                        <a:latin typeface="Arial Black"/>
                        <a:cs typeface="Arial Black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  <a:p>
                      <a:pPr marL="57785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Timetables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counts:</a:t>
                      </a:r>
                      <a:r>
                        <a:rPr sz="9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suitable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room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plans.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20" dirty="0">
                          <a:latin typeface="Arial Black"/>
                          <a:cs typeface="Arial Black"/>
                        </a:rPr>
                        <a:t>Food</a:t>
                      </a:r>
                      <a:endParaRPr sz="900" dirty="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Meal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records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waste:</a:t>
                      </a:r>
                      <a:r>
                        <a:rPr sz="900" spc="5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cooking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quantities.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 Black"/>
                          <a:cs typeface="Arial Black"/>
                        </a:rPr>
                        <a:t>Mobility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Trip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logs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and counts:</a:t>
                      </a:r>
                      <a:r>
                        <a:rPr sz="900" spc="7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capacity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 timing.</a:t>
                      </a:r>
                      <a:endParaRPr sz="900" dirty="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1302" y="2845470"/>
            <a:ext cx="3972560" cy="34528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lang="en-IN" sz="700" spc="-60" dirty="0">
                <a:latin typeface="Arial Black"/>
                <a:cs typeface="Arial Black"/>
              </a:rPr>
              <a:t>Proposed digital twin </a:t>
            </a:r>
            <a:r>
              <a:rPr sz="700" spc="-60" dirty="0">
                <a:latin typeface="Arial Black"/>
                <a:cs typeface="Arial Black"/>
              </a:rPr>
              <a:t>:</a:t>
            </a:r>
            <a:r>
              <a:rPr sz="700" spc="30" dirty="0">
                <a:latin typeface="Arial Black"/>
                <a:cs typeface="Arial Black"/>
              </a:rPr>
              <a:t> </a:t>
            </a:r>
            <a:r>
              <a:rPr sz="700" dirty="0">
                <a:latin typeface="Tahoma"/>
                <a:cs typeface="Tahoma"/>
              </a:rPr>
              <a:t>connect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staff-</a:t>
            </a:r>
            <a:r>
              <a:rPr sz="700" dirty="0">
                <a:latin typeface="Tahoma"/>
                <a:cs typeface="Tahoma"/>
              </a:rPr>
              <a:t>validated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assets.</a:t>
            </a:r>
            <a:r>
              <a:rPr sz="700" spc="9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The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Brain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checks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shared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constraints,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requests </a:t>
            </a:r>
            <a:r>
              <a:rPr sz="700" dirty="0">
                <a:latin typeface="Tahoma"/>
                <a:cs typeface="Tahoma"/>
              </a:rPr>
              <a:t>operator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approval and </a:t>
            </a:r>
            <a:r>
              <a:rPr sz="700" spc="-10" dirty="0">
                <a:latin typeface="Tahoma"/>
                <a:cs typeface="Tahoma"/>
              </a:rPr>
              <a:t>verifies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outcomes.</a:t>
            </a:r>
            <a:r>
              <a:rPr sz="700" spc="8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Room plans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must accommodate </a:t>
            </a:r>
            <a:r>
              <a:rPr sz="700" spc="-10" dirty="0">
                <a:latin typeface="Tahoma"/>
                <a:cs typeface="Tahoma"/>
              </a:rPr>
              <a:t>authorised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participants.</a:t>
            </a:r>
            <a:endParaRPr sz="700" dirty="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26936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55" dirty="0">
                <a:latin typeface="Arial Black"/>
                <a:cs typeface="Arial Black"/>
              </a:rPr>
              <a:t>Technical</a:t>
            </a:r>
            <a:r>
              <a:rPr sz="1100" spc="80" dirty="0">
                <a:latin typeface="Arial Black"/>
                <a:cs typeface="Arial Black"/>
              </a:rPr>
              <a:t> </a:t>
            </a:r>
            <a:r>
              <a:rPr sz="1100" spc="-120" dirty="0">
                <a:latin typeface="Arial Black"/>
                <a:cs typeface="Arial Black"/>
              </a:rPr>
              <a:t>Approach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563195" y="499292"/>
            <a:ext cx="1395730" cy="361950"/>
            <a:chOff x="563195" y="499292"/>
            <a:chExt cx="1395730" cy="361950"/>
          </a:xfrm>
        </p:grpSpPr>
        <p:sp>
          <p:nvSpPr>
            <p:cNvPr id="7" name="object 7"/>
            <p:cNvSpPr/>
            <p:nvPr/>
          </p:nvSpPr>
          <p:spPr>
            <a:xfrm>
              <a:off x="567640" y="503737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7640" y="503737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738289" y="508787"/>
            <a:ext cx="104521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130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Blueprint</a:t>
            </a:r>
            <a:r>
              <a:rPr sz="800" spc="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asset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IDs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Staff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verify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meter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links</a:t>
            </a:r>
            <a:endParaRPr sz="800" dirty="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2327214" y="499292"/>
            <a:ext cx="1395730" cy="361950"/>
            <a:chOff x="2327214" y="499292"/>
            <a:chExt cx="1395730" cy="361950"/>
          </a:xfrm>
        </p:grpSpPr>
        <p:sp>
          <p:nvSpPr>
            <p:cNvPr id="11" name="object 11"/>
            <p:cNvSpPr/>
            <p:nvPr/>
          </p:nvSpPr>
          <p:spPr>
            <a:xfrm>
              <a:off x="2331659" y="503737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2331659" y="503737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2429560" y="508787"/>
            <a:ext cx="119126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985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Meters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campus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records Readings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and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service</a:t>
            </a:r>
            <a:r>
              <a:rPr sz="800" spc="-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data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563195" y="924095"/>
            <a:ext cx="1395730" cy="361950"/>
            <a:chOff x="563195" y="924095"/>
            <a:chExt cx="1395730" cy="361950"/>
          </a:xfrm>
        </p:grpSpPr>
        <p:sp>
          <p:nvSpPr>
            <p:cNvPr id="19" name="object 19"/>
            <p:cNvSpPr/>
            <p:nvPr/>
          </p:nvSpPr>
          <p:spPr>
            <a:xfrm>
              <a:off x="567640" y="928540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5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7640" y="928540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59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5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700976" y="933590"/>
            <a:ext cx="112014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8415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Validate</a:t>
            </a:r>
            <a:r>
              <a:rPr sz="800" spc="4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5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PostgreSQL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Time,</a:t>
            </a:r>
            <a:r>
              <a:rPr sz="800" spc="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IDs,</a:t>
            </a:r>
            <a:r>
              <a:rPr sz="800" spc="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units,</a:t>
            </a:r>
            <a:r>
              <a:rPr sz="800" spc="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quality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2327214" y="918471"/>
            <a:ext cx="1395730" cy="372745"/>
            <a:chOff x="2327214" y="918471"/>
            <a:chExt cx="1395730" cy="372745"/>
          </a:xfrm>
        </p:grpSpPr>
        <p:sp>
          <p:nvSpPr>
            <p:cNvPr id="15" name="object 15"/>
            <p:cNvSpPr/>
            <p:nvPr/>
          </p:nvSpPr>
          <p:spPr>
            <a:xfrm>
              <a:off x="2331659" y="922916"/>
              <a:ext cx="1386840" cy="363855"/>
            </a:xfrm>
            <a:custGeom>
              <a:avLst/>
              <a:gdLst/>
              <a:ahLst/>
              <a:cxnLst/>
              <a:rect l="l" t="t" r="r" b="b"/>
              <a:pathLst>
                <a:path w="1386839" h="363855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5832"/>
                  </a:lnTo>
                  <a:lnTo>
                    <a:pt x="2982" y="340607"/>
                  </a:lnTo>
                  <a:lnTo>
                    <a:pt x="11117" y="352672"/>
                  </a:lnTo>
                  <a:lnTo>
                    <a:pt x="23182" y="360807"/>
                  </a:lnTo>
                  <a:lnTo>
                    <a:pt x="37958" y="363790"/>
                  </a:lnTo>
                  <a:lnTo>
                    <a:pt x="1348584" y="363790"/>
                  </a:lnTo>
                  <a:lnTo>
                    <a:pt x="1363360" y="360807"/>
                  </a:lnTo>
                  <a:lnTo>
                    <a:pt x="1375425" y="352672"/>
                  </a:lnTo>
                  <a:lnTo>
                    <a:pt x="1383560" y="340607"/>
                  </a:lnTo>
                  <a:lnTo>
                    <a:pt x="1386543" y="325832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331659" y="922916"/>
              <a:ext cx="1386840" cy="363855"/>
            </a:xfrm>
            <a:custGeom>
              <a:avLst/>
              <a:gdLst/>
              <a:ahLst/>
              <a:cxnLst/>
              <a:rect l="l" t="t" r="r" b="b"/>
              <a:pathLst>
                <a:path w="1386839" h="363855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325832"/>
                  </a:lnTo>
                  <a:lnTo>
                    <a:pt x="2982" y="340607"/>
                  </a:lnTo>
                  <a:lnTo>
                    <a:pt x="11117" y="352672"/>
                  </a:lnTo>
                  <a:lnTo>
                    <a:pt x="23182" y="360807"/>
                  </a:lnTo>
                  <a:lnTo>
                    <a:pt x="37958" y="363790"/>
                  </a:lnTo>
                  <a:lnTo>
                    <a:pt x="1348584" y="363790"/>
                  </a:lnTo>
                  <a:lnTo>
                    <a:pt x="1363360" y="360807"/>
                  </a:lnTo>
                  <a:lnTo>
                    <a:pt x="1375425" y="352672"/>
                  </a:lnTo>
                  <a:lnTo>
                    <a:pt x="1383560" y="340607"/>
                  </a:lnTo>
                  <a:lnTo>
                    <a:pt x="1386543" y="325832"/>
                  </a:lnTo>
                  <a:lnTo>
                    <a:pt x="1386543" y="37958"/>
                  </a:lnTo>
                  <a:lnTo>
                    <a:pt x="1383560" y="23182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2512174" y="933590"/>
            <a:ext cx="1025525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3664" marR="5080" indent="-101600">
              <a:lnSpc>
                <a:spcPct val="111600"/>
              </a:lnSpc>
              <a:spcBef>
                <a:spcPts val="100"/>
              </a:spcBef>
            </a:pP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Gateway</a:t>
            </a:r>
            <a:r>
              <a:rPr sz="800" spc="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120" dirty="0">
                <a:solidFill>
                  <a:srgbClr val="154B33"/>
                </a:solidFill>
                <a:latin typeface="Tahoma"/>
                <a:cs typeface="Tahoma"/>
              </a:rPr>
              <a:t>/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55" dirty="0">
                <a:solidFill>
                  <a:srgbClr val="154B33"/>
                </a:solidFill>
                <a:latin typeface="Tahoma"/>
                <a:cs typeface="Tahoma"/>
              </a:rPr>
              <a:t>CSV</a:t>
            </a:r>
            <a:r>
              <a:rPr sz="800" spc="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120" dirty="0">
                <a:solidFill>
                  <a:srgbClr val="154B33"/>
                </a:solidFill>
                <a:latin typeface="Tahoma"/>
                <a:cs typeface="Tahoma"/>
              </a:rPr>
              <a:t>/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API </a:t>
            </a:r>
            <a:r>
              <a:rPr sz="800" spc="100" dirty="0">
                <a:solidFill>
                  <a:srgbClr val="154B33"/>
                </a:solidFill>
                <a:latin typeface="Tahoma"/>
                <a:cs typeface="Tahoma"/>
              </a:rPr>
              <a:t>MQTT</a:t>
            </a:r>
            <a:r>
              <a:rPr sz="800" spc="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120" dirty="0">
                <a:solidFill>
                  <a:srgbClr val="154B33"/>
                </a:solidFill>
                <a:latin typeface="Tahoma"/>
                <a:cs typeface="Tahoma"/>
              </a:rPr>
              <a:t>/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65" dirty="0">
                <a:solidFill>
                  <a:srgbClr val="154B33"/>
                </a:solidFill>
                <a:latin typeface="Tahoma"/>
                <a:cs typeface="Tahoma"/>
              </a:rPr>
              <a:t>HTTPS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139201" y="1348903"/>
            <a:ext cx="2007870" cy="361950"/>
            <a:chOff x="1139201" y="1348903"/>
            <a:chExt cx="2007870" cy="361950"/>
          </a:xfrm>
        </p:grpSpPr>
        <p:sp>
          <p:nvSpPr>
            <p:cNvPr id="23" name="object 23"/>
            <p:cNvSpPr/>
            <p:nvPr/>
          </p:nvSpPr>
          <p:spPr>
            <a:xfrm>
              <a:off x="1143646" y="1353348"/>
              <a:ext cx="1998980" cy="353060"/>
            </a:xfrm>
            <a:custGeom>
              <a:avLst/>
              <a:gdLst/>
              <a:ahLst/>
              <a:cxnLst/>
              <a:rect l="l" t="t" r="r" b="b"/>
              <a:pathLst>
                <a:path w="1998980" h="353060">
                  <a:moveTo>
                    <a:pt x="196059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960591" y="352542"/>
                  </a:lnTo>
                  <a:lnTo>
                    <a:pt x="1975366" y="349559"/>
                  </a:lnTo>
                  <a:lnTo>
                    <a:pt x="1987432" y="341425"/>
                  </a:lnTo>
                  <a:lnTo>
                    <a:pt x="1995566" y="329359"/>
                  </a:lnTo>
                  <a:lnTo>
                    <a:pt x="1998549" y="314584"/>
                  </a:lnTo>
                  <a:lnTo>
                    <a:pt x="1998549" y="37958"/>
                  </a:lnTo>
                  <a:lnTo>
                    <a:pt x="1995566" y="23183"/>
                  </a:lnTo>
                  <a:lnTo>
                    <a:pt x="1987432" y="11117"/>
                  </a:lnTo>
                  <a:lnTo>
                    <a:pt x="1975366" y="2982"/>
                  </a:lnTo>
                  <a:lnTo>
                    <a:pt x="1960591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143646" y="1353348"/>
              <a:ext cx="1998980" cy="353060"/>
            </a:xfrm>
            <a:custGeom>
              <a:avLst/>
              <a:gdLst/>
              <a:ahLst/>
              <a:cxnLst/>
              <a:rect l="l" t="t" r="r" b="b"/>
              <a:pathLst>
                <a:path w="1998980" h="353060">
                  <a:moveTo>
                    <a:pt x="196059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960591" y="352542"/>
                  </a:lnTo>
                  <a:lnTo>
                    <a:pt x="1975366" y="349559"/>
                  </a:lnTo>
                  <a:lnTo>
                    <a:pt x="1987432" y="341425"/>
                  </a:lnTo>
                  <a:lnTo>
                    <a:pt x="1995566" y="329359"/>
                  </a:lnTo>
                  <a:lnTo>
                    <a:pt x="1998549" y="314584"/>
                  </a:lnTo>
                  <a:lnTo>
                    <a:pt x="1998549" y="37958"/>
                  </a:lnTo>
                  <a:lnTo>
                    <a:pt x="1995566" y="23183"/>
                  </a:lnTo>
                  <a:lnTo>
                    <a:pt x="1987432" y="11117"/>
                  </a:lnTo>
                  <a:lnTo>
                    <a:pt x="1975366" y="2982"/>
                  </a:lnTo>
                  <a:lnTo>
                    <a:pt x="1960591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143646" y="1358392"/>
            <a:ext cx="199898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0489" marR="102235" indent="235585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Worker:</a:t>
            </a:r>
            <a:r>
              <a:rPr sz="8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five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forecast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engines Ranges,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evidence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and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candidate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actions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6" name="object 26"/>
          <p:cNvGrpSpPr/>
          <p:nvPr/>
        </p:nvGrpSpPr>
        <p:grpSpPr>
          <a:xfrm>
            <a:off x="563195" y="1773705"/>
            <a:ext cx="1395730" cy="361950"/>
            <a:chOff x="563195" y="1773705"/>
            <a:chExt cx="1395730" cy="361950"/>
          </a:xfrm>
        </p:grpSpPr>
        <p:sp>
          <p:nvSpPr>
            <p:cNvPr id="27" name="object 27"/>
            <p:cNvSpPr/>
            <p:nvPr/>
          </p:nvSpPr>
          <p:spPr>
            <a:xfrm>
              <a:off x="567640" y="1778150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60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5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3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567640" y="1778150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60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4"/>
                  </a:lnTo>
                  <a:lnTo>
                    <a:pt x="2982" y="329359"/>
                  </a:lnTo>
                  <a:lnTo>
                    <a:pt x="11117" y="341425"/>
                  </a:lnTo>
                  <a:lnTo>
                    <a:pt x="23182" y="349559"/>
                  </a:lnTo>
                  <a:lnTo>
                    <a:pt x="37958" y="352542"/>
                  </a:lnTo>
                  <a:lnTo>
                    <a:pt x="1348584" y="352542"/>
                  </a:lnTo>
                  <a:lnTo>
                    <a:pt x="1363360" y="349559"/>
                  </a:lnTo>
                  <a:lnTo>
                    <a:pt x="1375425" y="341425"/>
                  </a:lnTo>
                  <a:lnTo>
                    <a:pt x="1383560" y="329359"/>
                  </a:lnTo>
                  <a:lnTo>
                    <a:pt x="1386543" y="314584"/>
                  </a:lnTo>
                  <a:lnTo>
                    <a:pt x="1386543" y="37958"/>
                  </a:lnTo>
                  <a:lnTo>
                    <a:pt x="1383560" y="23183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682739" y="1783207"/>
            <a:ext cx="115697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247650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Campus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Brain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Constraints</a:t>
            </a:r>
            <a:r>
              <a:rPr sz="800" spc="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joint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plans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2327214" y="1773706"/>
            <a:ext cx="1395730" cy="361950"/>
            <a:chOff x="2327214" y="1773706"/>
            <a:chExt cx="1395730" cy="361950"/>
          </a:xfrm>
        </p:grpSpPr>
        <p:sp>
          <p:nvSpPr>
            <p:cNvPr id="31" name="object 31"/>
            <p:cNvSpPr/>
            <p:nvPr/>
          </p:nvSpPr>
          <p:spPr>
            <a:xfrm>
              <a:off x="2331659" y="1778151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60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3"/>
                  </a:lnTo>
                  <a:lnTo>
                    <a:pt x="2982" y="329358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1"/>
                  </a:lnTo>
                  <a:lnTo>
                    <a:pt x="1348584" y="352541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8"/>
                  </a:lnTo>
                  <a:lnTo>
                    <a:pt x="1386543" y="314583"/>
                  </a:lnTo>
                  <a:lnTo>
                    <a:pt x="1386543" y="37958"/>
                  </a:lnTo>
                  <a:lnTo>
                    <a:pt x="1383560" y="23183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2331659" y="1778151"/>
              <a:ext cx="1386840" cy="353060"/>
            </a:xfrm>
            <a:custGeom>
              <a:avLst/>
              <a:gdLst/>
              <a:ahLst/>
              <a:cxnLst/>
              <a:rect l="l" t="t" r="r" b="b"/>
              <a:pathLst>
                <a:path w="1386839" h="353060">
                  <a:moveTo>
                    <a:pt x="1348584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314583"/>
                  </a:lnTo>
                  <a:lnTo>
                    <a:pt x="2982" y="329358"/>
                  </a:lnTo>
                  <a:lnTo>
                    <a:pt x="11117" y="341424"/>
                  </a:lnTo>
                  <a:lnTo>
                    <a:pt x="23182" y="349559"/>
                  </a:lnTo>
                  <a:lnTo>
                    <a:pt x="37958" y="352541"/>
                  </a:lnTo>
                  <a:lnTo>
                    <a:pt x="1348584" y="352541"/>
                  </a:lnTo>
                  <a:lnTo>
                    <a:pt x="1363360" y="349559"/>
                  </a:lnTo>
                  <a:lnTo>
                    <a:pt x="1375425" y="341424"/>
                  </a:lnTo>
                  <a:lnTo>
                    <a:pt x="1383560" y="329358"/>
                  </a:lnTo>
                  <a:lnTo>
                    <a:pt x="1386543" y="314583"/>
                  </a:lnTo>
                  <a:lnTo>
                    <a:pt x="1386543" y="37958"/>
                  </a:lnTo>
                  <a:lnTo>
                    <a:pt x="1383560" y="23183"/>
                  </a:lnTo>
                  <a:lnTo>
                    <a:pt x="1375425" y="11117"/>
                  </a:lnTo>
                  <a:lnTo>
                    <a:pt x="1363360" y="2982"/>
                  </a:lnTo>
                  <a:lnTo>
                    <a:pt x="1348584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2443327" y="1783207"/>
            <a:ext cx="116332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2710" marR="5080" indent="-80645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Dashboard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digital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twin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Approval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outcomes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242918" y="860708"/>
            <a:ext cx="2802255" cy="1111885"/>
            <a:chOff x="1242918" y="860708"/>
            <a:chExt cx="2802255" cy="1111885"/>
          </a:xfrm>
        </p:grpSpPr>
        <p:sp>
          <p:nvSpPr>
            <p:cNvPr id="35" name="object 35"/>
            <p:cNvSpPr/>
            <p:nvPr/>
          </p:nvSpPr>
          <p:spPr>
            <a:xfrm>
              <a:off x="1260912" y="860708"/>
              <a:ext cx="0" cy="24130"/>
            </a:xfrm>
            <a:custGeom>
              <a:avLst/>
              <a:gdLst/>
              <a:ahLst/>
              <a:cxnLst/>
              <a:rect l="l" t="t" r="r" b="b"/>
              <a:pathLst>
                <a:path h="24130">
                  <a:moveTo>
                    <a:pt x="0" y="0"/>
                  </a:moveTo>
                  <a:lnTo>
                    <a:pt x="0" y="23828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247979" y="875652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4" h="34290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7" name="object 37"/>
            <p:cNvSpPr/>
            <p:nvPr/>
          </p:nvSpPr>
          <p:spPr>
            <a:xfrm>
              <a:off x="1247979" y="875652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4" h="34290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3024931" y="860708"/>
              <a:ext cx="0" cy="18415"/>
            </a:xfrm>
            <a:custGeom>
              <a:avLst/>
              <a:gdLst/>
              <a:ahLst/>
              <a:cxnLst/>
              <a:rect l="l" t="t" r="r" b="b"/>
              <a:pathLst>
                <a:path h="18415">
                  <a:moveTo>
                    <a:pt x="0" y="0"/>
                  </a:moveTo>
                  <a:lnTo>
                    <a:pt x="0" y="18205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9" name="object 39"/>
            <p:cNvSpPr/>
            <p:nvPr/>
          </p:nvSpPr>
          <p:spPr>
            <a:xfrm>
              <a:off x="3011998" y="870028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3011998" y="870028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41"/>
            <p:cNvSpPr/>
            <p:nvPr/>
          </p:nvSpPr>
          <p:spPr>
            <a:xfrm>
              <a:off x="1998186" y="1104811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329045" y="0"/>
                  </a:moveTo>
                  <a:lnTo>
                    <a:pt x="0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1973026" y="1091878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25865"/>
                  </a:moveTo>
                  <a:lnTo>
                    <a:pt x="22629" y="12932"/>
                  </a:lnTo>
                  <a:lnTo>
                    <a:pt x="34045" y="0"/>
                  </a:lnTo>
                  <a:lnTo>
                    <a:pt x="0" y="12932"/>
                  </a:lnTo>
                  <a:lnTo>
                    <a:pt x="34045" y="25865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3" name="object 43"/>
            <p:cNvSpPr/>
            <p:nvPr/>
          </p:nvSpPr>
          <p:spPr>
            <a:xfrm>
              <a:off x="1973026" y="1091878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12932"/>
                  </a:moveTo>
                  <a:lnTo>
                    <a:pt x="34045" y="25865"/>
                  </a:lnTo>
                  <a:lnTo>
                    <a:pt x="22629" y="12932"/>
                  </a:lnTo>
                  <a:lnTo>
                    <a:pt x="34045" y="0"/>
                  </a:lnTo>
                  <a:lnTo>
                    <a:pt x="0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260912" y="1285511"/>
              <a:ext cx="882015" cy="54610"/>
            </a:xfrm>
            <a:custGeom>
              <a:avLst/>
              <a:gdLst/>
              <a:ahLst/>
              <a:cxnLst/>
              <a:rect l="l" t="t" r="r" b="b"/>
              <a:pathLst>
                <a:path w="882014" h="54609">
                  <a:moveTo>
                    <a:pt x="0" y="0"/>
                  </a:moveTo>
                  <a:lnTo>
                    <a:pt x="0" y="53998"/>
                  </a:lnTo>
                  <a:lnTo>
                    <a:pt x="882009" y="53998"/>
                  </a:lnTo>
                  <a:lnTo>
                    <a:pt x="882009" y="23834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2129988" y="1300460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129988" y="1300460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1260912" y="1710319"/>
              <a:ext cx="882015" cy="61594"/>
            </a:xfrm>
            <a:custGeom>
              <a:avLst/>
              <a:gdLst/>
              <a:ahLst/>
              <a:cxnLst/>
              <a:rect l="l" t="t" r="r" b="b"/>
              <a:pathLst>
                <a:path w="882014" h="61594">
                  <a:moveTo>
                    <a:pt x="882009" y="0"/>
                  </a:moveTo>
                  <a:lnTo>
                    <a:pt x="882009" y="61200"/>
                  </a:lnTo>
                  <a:lnTo>
                    <a:pt x="0" y="61200"/>
                  </a:lnTo>
                  <a:lnTo>
                    <a:pt x="0" y="23829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1247979" y="1725263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4" h="34289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9" name="object 49"/>
            <p:cNvSpPr/>
            <p:nvPr/>
          </p:nvSpPr>
          <p:spPr>
            <a:xfrm>
              <a:off x="1247979" y="1725263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4" h="34289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50"/>
            <p:cNvSpPr/>
            <p:nvPr/>
          </p:nvSpPr>
          <p:spPr>
            <a:xfrm>
              <a:off x="1958612" y="1954422"/>
              <a:ext cx="329565" cy="0"/>
            </a:xfrm>
            <a:custGeom>
              <a:avLst/>
              <a:gdLst/>
              <a:ahLst/>
              <a:cxnLst/>
              <a:rect l="l" t="t" r="r" b="b"/>
              <a:pathLst>
                <a:path w="329564">
                  <a:moveTo>
                    <a:pt x="0" y="0"/>
                  </a:moveTo>
                  <a:lnTo>
                    <a:pt x="329045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2278772" y="1941489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2278772" y="1941489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3186199" y="1529619"/>
              <a:ext cx="698500" cy="424815"/>
            </a:xfrm>
            <a:custGeom>
              <a:avLst/>
              <a:gdLst/>
              <a:ahLst/>
              <a:cxnLst/>
              <a:rect l="l" t="t" r="r" b="b"/>
              <a:pathLst>
                <a:path w="698500" h="424814">
                  <a:moveTo>
                    <a:pt x="536432" y="424802"/>
                  </a:moveTo>
                  <a:lnTo>
                    <a:pt x="698432" y="424802"/>
                  </a:lnTo>
                  <a:lnTo>
                    <a:pt x="698432" y="0"/>
                  </a:lnTo>
                  <a:lnTo>
                    <a:pt x="0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3161039" y="1516686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25865"/>
                  </a:moveTo>
                  <a:lnTo>
                    <a:pt x="22629" y="12932"/>
                  </a:lnTo>
                  <a:lnTo>
                    <a:pt x="34045" y="0"/>
                  </a:lnTo>
                  <a:lnTo>
                    <a:pt x="0" y="12932"/>
                  </a:lnTo>
                  <a:lnTo>
                    <a:pt x="34045" y="25865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3161039" y="1516686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12932"/>
                  </a:moveTo>
                  <a:lnTo>
                    <a:pt x="34045" y="25865"/>
                  </a:lnTo>
                  <a:lnTo>
                    <a:pt x="22629" y="12932"/>
                  </a:lnTo>
                  <a:lnTo>
                    <a:pt x="34045" y="0"/>
                  </a:lnTo>
                  <a:lnTo>
                    <a:pt x="0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56"/>
            <p:cNvSpPr/>
            <p:nvPr/>
          </p:nvSpPr>
          <p:spPr>
            <a:xfrm>
              <a:off x="3625092" y="1468474"/>
              <a:ext cx="419734" cy="223520"/>
            </a:xfrm>
            <a:custGeom>
              <a:avLst/>
              <a:gdLst/>
              <a:ahLst/>
              <a:cxnLst/>
              <a:rect l="l" t="t" r="r" b="b"/>
              <a:pathLst>
                <a:path w="419735" h="223519">
                  <a:moveTo>
                    <a:pt x="419697" y="0"/>
                  </a:moveTo>
                  <a:lnTo>
                    <a:pt x="0" y="0"/>
                  </a:lnTo>
                  <a:lnTo>
                    <a:pt x="0" y="223091"/>
                  </a:lnTo>
                  <a:lnTo>
                    <a:pt x="419697" y="223091"/>
                  </a:lnTo>
                  <a:lnTo>
                    <a:pt x="419697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7" name="object 57"/>
          <p:cNvSpPr txBox="1"/>
          <p:nvPr/>
        </p:nvSpPr>
        <p:spPr>
          <a:xfrm>
            <a:off x="3647643" y="1446909"/>
            <a:ext cx="37465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solidFill>
                  <a:srgbClr val="154B33"/>
                </a:solidFill>
                <a:latin typeface="Tahoma"/>
                <a:cs typeface="Tahoma"/>
              </a:rPr>
              <a:t>observed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3631349" y="1568766"/>
            <a:ext cx="407670" cy="13525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700" spc="-10" dirty="0">
                <a:solidFill>
                  <a:srgbClr val="154B33"/>
                </a:solidFill>
                <a:latin typeface="Tahoma"/>
                <a:cs typeface="Tahoma"/>
              </a:rPr>
              <a:t>outcomes</a:t>
            </a:r>
            <a:endParaRPr sz="700">
              <a:latin typeface="Tahoma"/>
              <a:cs typeface="Tahoma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273189" y="2236368"/>
            <a:ext cx="3881754" cy="716915"/>
          </a:xfrm>
          <a:custGeom>
            <a:avLst/>
            <a:gdLst/>
            <a:ahLst/>
            <a:cxnLst/>
            <a:rect l="l" t="t" r="r" b="b"/>
            <a:pathLst>
              <a:path w="3881754" h="716914">
                <a:moveTo>
                  <a:pt x="3881666" y="44424"/>
                </a:moveTo>
                <a:lnTo>
                  <a:pt x="3880358" y="44424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12"/>
                </a:lnTo>
                <a:lnTo>
                  <a:pt x="0" y="82384"/>
                </a:lnTo>
                <a:lnTo>
                  <a:pt x="0" y="665873"/>
                </a:lnTo>
                <a:lnTo>
                  <a:pt x="4013" y="685596"/>
                </a:lnTo>
                <a:lnTo>
                  <a:pt x="14922" y="701751"/>
                </a:lnTo>
                <a:lnTo>
                  <a:pt x="31076" y="712660"/>
                </a:lnTo>
                <a:lnTo>
                  <a:pt x="50812" y="716673"/>
                </a:lnTo>
                <a:lnTo>
                  <a:pt x="3830866" y="716673"/>
                </a:lnTo>
                <a:lnTo>
                  <a:pt x="3850589" y="712660"/>
                </a:lnTo>
                <a:lnTo>
                  <a:pt x="3866743" y="701751"/>
                </a:lnTo>
                <a:lnTo>
                  <a:pt x="3877653" y="685596"/>
                </a:lnTo>
                <a:lnTo>
                  <a:pt x="3881666" y="665873"/>
                </a:lnTo>
                <a:lnTo>
                  <a:pt x="3881666" y="82384"/>
                </a:lnTo>
                <a:lnTo>
                  <a:pt x="3881666" y="50812"/>
                </a:lnTo>
                <a:lnTo>
                  <a:pt x="3881666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 txBox="1"/>
          <p:nvPr/>
        </p:nvSpPr>
        <p:spPr>
          <a:xfrm>
            <a:off x="401294" y="2316327"/>
            <a:ext cx="1548130" cy="45653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80"/>
              </a:spcBef>
            </a:pPr>
            <a:r>
              <a:rPr lang="en-IN" sz="800" spc="-40" dirty="0">
                <a:latin typeface="Arial Black"/>
                <a:cs typeface="Arial Black"/>
              </a:rPr>
              <a:t>Proposed Tech Stack</a:t>
            </a:r>
            <a:r>
              <a:rPr sz="800" spc="-40" dirty="0">
                <a:latin typeface="Arial Black"/>
                <a:cs typeface="Arial Black"/>
              </a:rPr>
              <a:t>Web:</a:t>
            </a:r>
            <a:r>
              <a:rPr sz="800" spc="105" dirty="0">
                <a:latin typeface="Arial Black"/>
                <a:cs typeface="Arial Black"/>
              </a:rPr>
              <a:t> </a:t>
            </a:r>
            <a:r>
              <a:rPr sz="800" dirty="0">
                <a:latin typeface="Tahoma"/>
                <a:cs typeface="Tahoma"/>
              </a:rPr>
              <a:t>React,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TypeScript,</a:t>
            </a:r>
            <a:r>
              <a:rPr sz="800" spc="30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Three.js</a:t>
            </a:r>
            <a:endParaRPr sz="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spc="-20" dirty="0">
                <a:latin typeface="Arial Black"/>
                <a:cs typeface="Arial Black"/>
              </a:rPr>
              <a:t>API:</a:t>
            </a:r>
            <a:r>
              <a:rPr sz="800" spc="55" dirty="0">
                <a:latin typeface="Arial Black"/>
                <a:cs typeface="Arial Black"/>
              </a:rPr>
              <a:t> </a:t>
            </a:r>
            <a:r>
              <a:rPr sz="800" dirty="0">
                <a:latin typeface="Tahoma"/>
                <a:cs typeface="Tahoma"/>
              </a:rPr>
              <a:t>FastAPI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spc="70" dirty="0">
                <a:latin typeface="Tahoma"/>
                <a:cs typeface="Tahoma"/>
              </a:rPr>
              <a:t>+ </a:t>
            </a:r>
            <a:r>
              <a:rPr sz="800" dirty="0">
                <a:latin typeface="Tahoma"/>
                <a:cs typeface="Tahoma"/>
              </a:rPr>
              <a:t>Python</a:t>
            </a:r>
            <a:r>
              <a:rPr sz="800" spc="7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worker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2278772" y="2305538"/>
            <a:ext cx="1463931" cy="332142"/>
          </a:xfrm>
          <a:prstGeom prst="rect">
            <a:avLst/>
          </a:prstGeom>
        </p:spPr>
        <p:txBody>
          <a:bodyPr vert="horz" wrap="square" lIns="0" tIns="469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sz="800" spc="-40" dirty="0">
                <a:latin typeface="Arial Black"/>
                <a:cs typeface="Arial Black"/>
              </a:rPr>
              <a:t>Data:</a:t>
            </a:r>
            <a:r>
              <a:rPr sz="800" spc="10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Tahoma"/>
                <a:cs typeface="Tahoma"/>
              </a:rPr>
              <a:t>PostgreSQL</a:t>
            </a:r>
            <a:endParaRPr sz="800" dirty="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270"/>
              </a:spcBef>
            </a:pPr>
            <a:r>
              <a:rPr sz="800" spc="-25" dirty="0">
                <a:latin typeface="Arial Black"/>
                <a:cs typeface="Arial Black"/>
              </a:rPr>
              <a:t>AI:</a:t>
            </a:r>
            <a:r>
              <a:rPr sz="800" spc="25" dirty="0">
                <a:latin typeface="Arial Black"/>
                <a:cs typeface="Arial Black"/>
              </a:rPr>
              <a:t> </a:t>
            </a:r>
            <a:r>
              <a:rPr sz="800" spc="-10" dirty="0">
                <a:latin typeface="Tahoma"/>
                <a:cs typeface="Tahoma"/>
              </a:rPr>
              <a:t>scikit-</a:t>
            </a:r>
            <a:r>
              <a:rPr sz="800" dirty="0">
                <a:latin typeface="Tahoma"/>
                <a:cs typeface="Tahoma"/>
              </a:rPr>
              <a:t>learn,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spc="-10" dirty="0">
                <a:latin typeface="Tahoma"/>
                <a:cs typeface="Tahoma"/>
              </a:rPr>
              <a:t>rules,</a:t>
            </a:r>
            <a:r>
              <a:rPr sz="800" spc="45" dirty="0">
                <a:latin typeface="Tahoma"/>
                <a:cs typeface="Tahoma"/>
              </a:rPr>
              <a:t> </a:t>
            </a:r>
            <a:r>
              <a:rPr sz="800" dirty="0">
                <a:latin typeface="Tahoma"/>
                <a:cs typeface="Tahoma"/>
              </a:rPr>
              <a:t>OR-</a:t>
            </a:r>
            <a:r>
              <a:rPr sz="800" spc="-20" dirty="0">
                <a:latin typeface="Tahoma"/>
                <a:cs typeface="Tahoma"/>
              </a:rPr>
              <a:t>Tools</a:t>
            </a:r>
            <a:endParaRPr sz="800" dirty="0">
              <a:latin typeface="Tahoma"/>
              <a:cs typeface="Tahoma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311302" y="2988548"/>
            <a:ext cx="3839210" cy="25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sz="700" dirty="0">
                <a:latin typeface="Tahoma"/>
                <a:cs typeface="Tahoma"/>
              </a:rPr>
              <a:t>One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backend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worker.</a:t>
            </a:r>
            <a:r>
              <a:rPr sz="700" spc="9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Optional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OR-Tools.</a:t>
            </a:r>
            <a:r>
              <a:rPr sz="700" spc="9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Modbus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where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supported.</a:t>
            </a:r>
            <a:r>
              <a:rPr sz="700" spc="9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Unknown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readings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20" dirty="0">
                <a:latin typeface="Tahoma"/>
                <a:cs typeface="Tahoma"/>
              </a:rPr>
              <a:t>stay </a:t>
            </a:r>
            <a:r>
              <a:rPr sz="700" spc="-10" dirty="0">
                <a:latin typeface="Tahoma"/>
                <a:cs typeface="Tahoma"/>
              </a:rPr>
              <a:t>unknown.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0" y="3331336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63"/>
                </a:lnTo>
                <a:lnTo>
                  <a:pt x="3317760" y="124663"/>
                </a:lnTo>
                <a:lnTo>
                  <a:pt x="4607992" y="124663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65" name="object 65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latin typeface="Arial Black"/>
                <a:cs typeface="Arial Black"/>
              </a:rPr>
              <a:t>Innovation</a:t>
            </a:r>
            <a:r>
              <a:rPr sz="1100" spc="25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&amp;</a:t>
            </a:r>
            <a:r>
              <a:rPr sz="1100" spc="5" dirty="0">
                <a:latin typeface="Arial Black"/>
                <a:cs typeface="Arial Black"/>
              </a:rPr>
              <a:t> </a:t>
            </a:r>
            <a:r>
              <a:rPr sz="1100" spc="-145" dirty="0">
                <a:latin typeface="Arial Black"/>
                <a:cs typeface="Arial Black"/>
              </a:rPr>
              <a:t>Uniqueness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pSp>
        <p:nvGrpSpPr>
          <p:cNvPr id="11" name="object 11"/>
          <p:cNvGrpSpPr/>
          <p:nvPr/>
        </p:nvGrpSpPr>
        <p:grpSpPr>
          <a:xfrm>
            <a:off x="2460434" y="653113"/>
            <a:ext cx="1216025" cy="342265"/>
            <a:chOff x="2460434" y="653113"/>
            <a:chExt cx="1216025" cy="342265"/>
          </a:xfrm>
        </p:grpSpPr>
        <p:sp>
          <p:nvSpPr>
            <p:cNvPr id="12" name="object 12"/>
            <p:cNvSpPr/>
            <p:nvPr/>
          </p:nvSpPr>
          <p:spPr>
            <a:xfrm>
              <a:off x="2464879" y="657558"/>
              <a:ext cx="1207135" cy="333375"/>
            </a:xfrm>
            <a:custGeom>
              <a:avLst/>
              <a:gdLst/>
              <a:ahLst/>
              <a:cxnLst/>
              <a:rect l="l" t="t" r="r" b="b"/>
              <a:pathLst>
                <a:path w="1207135" h="33337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294902"/>
                  </a:lnTo>
                  <a:lnTo>
                    <a:pt x="2982" y="309677"/>
                  </a:lnTo>
                  <a:lnTo>
                    <a:pt x="11117" y="321742"/>
                  </a:lnTo>
                  <a:lnTo>
                    <a:pt x="23183" y="329877"/>
                  </a:lnTo>
                  <a:lnTo>
                    <a:pt x="37958" y="332860"/>
                  </a:lnTo>
                  <a:lnTo>
                    <a:pt x="1168582" y="332860"/>
                  </a:lnTo>
                  <a:lnTo>
                    <a:pt x="1183357" y="329877"/>
                  </a:lnTo>
                  <a:lnTo>
                    <a:pt x="1195423" y="321742"/>
                  </a:lnTo>
                  <a:lnTo>
                    <a:pt x="1203557" y="309677"/>
                  </a:lnTo>
                  <a:lnTo>
                    <a:pt x="1206540" y="294902"/>
                  </a:lnTo>
                  <a:lnTo>
                    <a:pt x="1206540" y="37958"/>
                  </a:lnTo>
                  <a:lnTo>
                    <a:pt x="1203557" y="23183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2464879" y="657558"/>
              <a:ext cx="1207135" cy="333375"/>
            </a:xfrm>
            <a:custGeom>
              <a:avLst/>
              <a:gdLst/>
              <a:ahLst/>
              <a:cxnLst/>
              <a:rect l="l" t="t" r="r" b="b"/>
              <a:pathLst>
                <a:path w="1207135" h="33337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294902"/>
                  </a:lnTo>
                  <a:lnTo>
                    <a:pt x="2982" y="309677"/>
                  </a:lnTo>
                  <a:lnTo>
                    <a:pt x="11117" y="321742"/>
                  </a:lnTo>
                  <a:lnTo>
                    <a:pt x="23183" y="329877"/>
                  </a:lnTo>
                  <a:lnTo>
                    <a:pt x="37958" y="332860"/>
                  </a:lnTo>
                  <a:lnTo>
                    <a:pt x="1168582" y="332860"/>
                  </a:lnTo>
                  <a:lnTo>
                    <a:pt x="1183357" y="329877"/>
                  </a:lnTo>
                  <a:lnTo>
                    <a:pt x="1195423" y="321742"/>
                  </a:lnTo>
                  <a:lnTo>
                    <a:pt x="1203557" y="309677"/>
                  </a:lnTo>
                  <a:lnTo>
                    <a:pt x="1206540" y="294902"/>
                  </a:lnTo>
                  <a:lnTo>
                    <a:pt x="1206540" y="37958"/>
                  </a:lnTo>
                  <a:lnTo>
                    <a:pt x="1203557" y="23183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2689313" y="662610"/>
            <a:ext cx="758190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270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Five</a:t>
            </a:r>
            <a:r>
              <a:rPr sz="800" spc="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forecasts</a:t>
            </a:r>
            <a:r>
              <a:rPr sz="800" spc="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+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current</a:t>
            </a:r>
            <a:r>
              <a:rPr sz="800" spc="-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evidence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2460434" y="1122026"/>
            <a:ext cx="1667510" cy="1619250"/>
            <a:chOff x="2460434" y="1122026"/>
            <a:chExt cx="1667510" cy="1619250"/>
          </a:xfrm>
        </p:grpSpPr>
        <p:sp>
          <p:nvSpPr>
            <p:cNvPr id="16" name="object 16"/>
            <p:cNvSpPr/>
            <p:nvPr/>
          </p:nvSpPr>
          <p:spPr>
            <a:xfrm>
              <a:off x="2552242" y="1124566"/>
              <a:ext cx="1031875" cy="514984"/>
            </a:xfrm>
            <a:custGeom>
              <a:avLst/>
              <a:gdLst/>
              <a:ahLst/>
              <a:cxnLst/>
              <a:rect l="l" t="t" r="r" b="b"/>
              <a:pathLst>
                <a:path w="1031875" h="514985">
                  <a:moveTo>
                    <a:pt x="515907" y="0"/>
                  </a:moveTo>
                  <a:lnTo>
                    <a:pt x="0" y="257429"/>
                  </a:lnTo>
                  <a:lnTo>
                    <a:pt x="515907" y="514859"/>
                  </a:lnTo>
                  <a:lnTo>
                    <a:pt x="1031815" y="257429"/>
                  </a:lnTo>
                  <a:lnTo>
                    <a:pt x="515907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552242" y="1124566"/>
              <a:ext cx="1031875" cy="514984"/>
            </a:xfrm>
            <a:custGeom>
              <a:avLst/>
              <a:gdLst/>
              <a:ahLst/>
              <a:cxnLst/>
              <a:rect l="l" t="t" r="r" b="b"/>
              <a:pathLst>
                <a:path w="1031875" h="514985">
                  <a:moveTo>
                    <a:pt x="1031815" y="257429"/>
                  </a:moveTo>
                  <a:lnTo>
                    <a:pt x="515907" y="0"/>
                  </a:lnTo>
                  <a:lnTo>
                    <a:pt x="0" y="257429"/>
                  </a:lnTo>
                  <a:lnTo>
                    <a:pt x="515907" y="514859"/>
                  </a:lnTo>
                  <a:lnTo>
                    <a:pt x="1031815" y="257429"/>
                  </a:lnTo>
                  <a:close/>
                </a:path>
              </a:pathLst>
            </a:custGeom>
            <a:ln w="5060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705202" y="1231031"/>
              <a:ext cx="418465" cy="302260"/>
            </a:xfrm>
            <a:custGeom>
              <a:avLst/>
              <a:gdLst/>
              <a:ahLst/>
              <a:cxnLst/>
              <a:rect l="l" t="t" r="r" b="b"/>
              <a:pathLst>
                <a:path w="418464" h="302259">
                  <a:moveTo>
                    <a:pt x="37996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63972"/>
                  </a:lnTo>
                  <a:lnTo>
                    <a:pt x="2982" y="278748"/>
                  </a:lnTo>
                  <a:lnTo>
                    <a:pt x="11117" y="290813"/>
                  </a:lnTo>
                  <a:lnTo>
                    <a:pt x="23182" y="298948"/>
                  </a:lnTo>
                  <a:lnTo>
                    <a:pt x="37958" y="301931"/>
                  </a:lnTo>
                  <a:lnTo>
                    <a:pt x="379961" y="301931"/>
                  </a:lnTo>
                  <a:lnTo>
                    <a:pt x="394736" y="298948"/>
                  </a:lnTo>
                  <a:lnTo>
                    <a:pt x="406801" y="290813"/>
                  </a:lnTo>
                  <a:lnTo>
                    <a:pt x="414936" y="278748"/>
                  </a:lnTo>
                  <a:lnTo>
                    <a:pt x="417919" y="263972"/>
                  </a:lnTo>
                  <a:lnTo>
                    <a:pt x="417919" y="37958"/>
                  </a:lnTo>
                  <a:lnTo>
                    <a:pt x="414936" y="23182"/>
                  </a:lnTo>
                  <a:lnTo>
                    <a:pt x="406801" y="11117"/>
                  </a:lnTo>
                  <a:lnTo>
                    <a:pt x="394736" y="2982"/>
                  </a:lnTo>
                  <a:lnTo>
                    <a:pt x="379961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3705202" y="1231031"/>
              <a:ext cx="418465" cy="302260"/>
            </a:xfrm>
            <a:custGeom>
              <a:avLst/>
              <a:gdLst/>
              <a:ahLst/>
              <a:cxnLst/>
              <a:rect l="l" t="t" r="r" b="b"/>
              <a:pathLst>
                <a:path w="418464" h="302259">
                  <a:moveTo>
                    <a:pt x="379961" y="0"/>
                  </a:moveTo>
                  <a:lnTo>
                    <a:pt x="37958" y="0"/>
                  </a:lnTo>
                  <a:lnTo>
                    <a:pt x="23182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63972"/>
                  </a:lnTo>
                  <a:lnTo>
                    <a:pt x="2982" y="278748"/>
                  </a:lnTo>
                  <a:lnTo>
                    <a:pt x="11117" y="290813"/>
                  </a:lnTo>
                  <a:lnTo>
                    <a:pt x="23182" y="298948"/>
                  </a:lnTo>
                  <a:lnTo>
                    <a:pt x="37958" y="301931"/>
                  </a:lnTo>
                  <a:lnTo>
                    <a:pt x="379961" y="301931"/>
                  </a:lnTo>
                  <a:lnTo>
                    <a:pt x="394736" y="298948"/>
                  </a:lnTo>
                  <a:lnTo>
                    <a:pt x="406801" y="290813"/>
                  </a:lnTo>
                  <a:lnTo>
                    <a:pt x="414936" y="278748"/>
                  </a:lnTo>
                  <a:lnTo>
                    <a:pt x="417919" y="263972"/>
                  </a:lnTo>
                  <a:lnTo>
                    <a:pt x="417919" y="37958"/>
                  </a:lnTo>
                  <a:lnTo>
                    <a:pt x="414936" y="23182"/>
                  </a:lnTo>
                  <a:lnTo>
                    <a:pt x="406801" y="11117"/>
                  </a:lnTo>
                  <a:lnTo>
                    <a:pt x="394736" y="2982"/>
                  </a:lnTo>
                  <a:lnTo>
                    <a:pt x="379961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2464879" y="1691531"/>
              <a:ext cx="1207135" cy="605155"/>
            </a:xfrm>
            <a:custGeom>
              <a:avLst/>
              <a:gdLst/>
              <a:ahLst/>
              <a:cxnLst/>
              <a:rect l="l" t="t" r="r" b="b"/>
              <a:pathLst>
                <a:path w="1207135" h="60515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66985"/>
                  </a:lnTo>
                  <a:lnTo>
                    <a:pt x="2982" y="581760"/>
                  </a:lnTo>
                  <a:lnTo>
                    <a:pt x="11117" y="593825"/>
                  </a:lnTo>
                  <a:lnTo>
                    <a:pt x="23183" y="601960"/>
                  </a:lnTo>
                  <a:lnTo>
                    <a:pt x="37958" y="604943"/>
                  </a:lnTo>
                  <a:lnTo>
                    <a:pt x="1168582" y="604943"/>
                  </a:lnTo>
                  <a:lnTo>
                    <a:pt x="1183357" y="601960"/>
                  </a:lnTo>
                  <a:lnTo>
                    <a:pt x="1195423" y="593825"/>
                  </a:lnTo>
                  <a:lnTo>
                    <a:pt x="1203557" y="581760"/>
                  </a:lnTo>
                  <a:lnTo>
                    <a:pt x="1206540" y="566985"/>
                  </a:lnTo>
                  <a:lnTo>
                    <a:pt x="1206540" y="37958"/>
                  </a:lnTo>
                  <a:lnTo>
                    <a:pt x="1203557" y="23183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2464879" y="1691531"/>
              <a:ext cx="1207135" cy="605155"/>
            </a:xfrm>
            <a:custGeom>
              <a:avLst/>
              <a:gdLst/>
              <a:ahLst/>
              <a:cxnLst/>
              <a:rect l="l" t="t" r="r" b="b"/>
              <a:pathLst>
                <a:path w="1207135" h="60515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566985"/>
                  </a:lnTo>
                  <a:lnTo>
                    <a:pt x="2982" y="581760"/>
                  </a:lnTo>
                  <a:lnTo>
                    <a:pt x="11117" y="593825"/>
                  </a:lnTo>
                  <a:lnTo>
                    <a:pt x="23183" y="601960"/>
                  </a:lnTo>
                  <a:lnTo>
                    <a:pt x="37958" y="604943"/>
                  </a:lnTo>
                  <a:lnTo>
                    <a:pt x="1168582" y="604943"/>
                  </a:lnTo>
                  <a:lnTo>
                    <a:pt x="1183357" y="601960"/>
                  </a:lnTo>
                  <a:lnTo>
                    <a:pt x="1195423" y="593825"/>
                  </a:lnTo>
                  <a:lnTo>
                    <a:pt x="1203557" y="581760"/>
                  </a:lnTo>
                  <a:lnTo>
                    <a:pt x="1206540" y="566985"/>
                  </a:lnTo>
                  <a:lnTo>
                    <a:pt x="1206540" y="37958"/>
                  </a:lnTo>
                  <a:lnTo>
                    <a:pt x="1203557" y="23183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2464879" y="2403582"/>
              <a:ext cx="1207135" cy="333375"/>
            </a:xfrm>
            <a:custGeom>
              <a:avLst/>
              <a:gdLst/>
              <a:ahLst/>
              <a:cxnLst/>
              <a:rect l="l" t="t" r="r" b="b"/>
              <a:pathLst>
                <a:path w="1207135" h="33337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94902"/>
                  </a:lnTo>
                  <a:lnTo>
                    <a:pt x="2982" y="309677"/>
                  </a:lnTo>
                  <a:lnTo>
                    <a:pt x="11117" y="321742"/>
                  </a:lnTo>
                  <a:lnTo>
                    <a:pt x="23183" y="329877"/>
                  </a:lnTo>
                  <a:lnTo>
                    <a:pt x="37958" y="332860"/>
                  </a:lnTo>
                  <a:lnTo>
                    <a:pt x="1168582" y="332860"/>
                  </a:lnTo>
                  <a:lnTo>
                    <a:pt x="1183357" y="329877"/>
                  </a:lnTo>
                  <a:lnTo>
                    <a:pt x="1195423" y="321742"/>
                  </a:lnTo>
                  <a:lnTo>
                    <a:pt x="1203557" y="309677"/>
                  </a:lnTo>
                  <a:lnTo>
                    <a:pt x="1206540" y="294902"/>
                  </a:lnTo>
                  <a:lnTo>
                    <a:pt x="1206540" y="37958"/>
                  </a:lnTo>
                  <a:lnTo>
                    <a:pt x="1203557" y="23182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2464879" y="2403582"/>
              <a:ext cx="1207135" cy="333375"/>
            </a:xfrm>
            <a:custGeom>
              <a:avLst/>
              <a:gdLst/>
              <a:ahLst/>
              <a:cxnLst/>
              <a:rect l="l" t="t" r="r" b="b"/>
              <a:pathLst>
                <a:path w="1207135" h="333375">
                  <a:moveTo>
                    <a:pt x="1168582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294902"/>
                  </a:lnTo>
                  <a:lnTo>
                    <a:pt x="2982" y="309677"/>
                  </a:lnTo>
                  <a:lnTo>
                    <a:pt x="11117" y="321742"/>
                  </a:lnTo>
                  <a:lnTo>
                    <a:pt x="23183" y="329877"/>
                  </a:lnTo>
                  <a:lnTo>
                    <a:pt x="37958" y="332860"/>
                  </a:lnTo>
                  <a:lnTo>
                    <a:pt x="1168582" y="332860"/>
                  </a:lnTo>
                  <a:lnTo>
                    <a:pt x="1183357" y="329877"/>
                  </a:lnTo>
                  <a:lnTo>
                    <a:pt x="1195423" y="321742"/>
                  </a:lnTo>
                  <a:lnTo>
                    <a:pt x="1203557" y="309677"/>
                  </a:lnTo>
                  <a:lnTo>
                    <a:pt x="1206540" y="294902"/>
                  </a:lnTo>
                  <a:lnTo>
                    <a:pt x="1206540" y="37958"/>
                  </a:lnTo>
                  <a:lnTo>
                    <a:pt x="1203557" y="23182"/>
                  </a:lnTo>
                  <a:lnTo>
                    <a:pt x="1195423" y="11117"/>
                  </a:lnTo>
                  <a:lnTo>
                    <a:pt x="1183357" y="2982"/>
                  </a:lnTo>
                  <a:lnTo>
                    <a:pt x="1168582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25"/>
          <p:cNvGrpSpPr/>
          <p:nvPr/>
        </p:nvGrpSpPr>
        <p:grpSpPr>
          <a:xfrm>
            <a:off x="3050137" y="989767"/>
            <a:ext cx="662305" cy="410845"/>
            <a:chOff x="3050137" y="989767"/>
            <a:chExt cx="662305" cy="410845"/>
          </a:xfrm>
        </p:grpSpPr>
        <p:sp>
          <p:nvSpPr>
            <p:cNvPr id="26" name="object 26"/>
            <p:cNvSpPr/>
            <p:nvPr/>
          </p:nvSpPr>
          <p:spPr>
            <a:xfrm>
              <a:off x="3068149" y="994847"/>
              <a:ext cx="0" cy="86995"/>
            </a:xfrm>
            <a:custGeom>
              <a:avLst/>
              <a:gdLst/>
              <a:ahLst/>
              <a:cxnLst/>
              <a:rect l="l" t="t" r="r" b="b"/>
              <a:pathLst>
                <a:path h="86994">
                  <a:moveTo>
                    <a:pt x="0" y="0"/>
                  </a:moveTo>
                  <a:lnTo>
                    <a:pt x="0" y="8656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27"/>
            <p:cNvSpPr/>
            <p:nvPr/>
          </p:nvSpPr>
          <p:spPr>
            <a:xfrm>
              <a:off x="3055217" y="1072522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3055217" y="1072522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90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9" name="object 2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576037" y="1298805"/>
              <a:ext cx="136333" cy="101184"/>
            </a:xfrm>
            <a:prstGeom prst="rect">
              <a:avLst/>
            </a:prstGeom>
          </p:spPr>
        </p:pic>
      </p:grpSp>
      <p:sp>
        <p:nvSpPr>
          <p:cNvPr id="30" name="object 30"/>
          <p:cNvSpPr txBox="1"/>
          <p:nvPr/>
        </p:nvSpPr>
        <p:spPr>
          <a:xfrm>
            <a:off x="3556914" y="1210767"/>
            <a:ext cx="536575" cy="297815"/>
          </a:xfrm>
          <a:prstGeom prst="rect">
            <a:avLst/>
          </a:prstGeom>
        </p:spPr>
        <p:txBody>
          <a:bodyPr vert="horz" wrap="square" lIns="0" tIns="26670" rIns="0" bIns="0" rtlCol="0">
            <a:spAutoFit/>
          </a:bodyPr>
          <a:lstStyle/>
          <a:p>
            <a:pPr marR="30480" algn="r">
              <a:lnSpc>
                <a:spcPct val="100000"/>
              </a:lnSpc>
              <a:spcBef>
                <a:spcPts val="210"/>
              </a:spcBef>
            </a:pPr>
            <a:r>
              <a:rPr sz="1050" baseline="-11904" dirty="0">
                <a:solidFill>
                  <a:srgbClr val="154B33"/>
                </a:solidFill>
                <a:latin typeface="Tahoma"/>
                <a:cs typeface="Tahoma"/>
              </a:rPr>
              <a:t>no</a:t>
            </a:r>
            <a:r>
              <a:rPr sz="1050" spc="637" baseline="-11904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Revise</a:t>
            </a:r>
            <a:endParaRPr sz="800">
              <a:latin typeface="Tahoma"/>
              <a:cs typeface="Tahoma"/>
            </a:endParaRPr>
          </a:p>
          <a:p>
            <a:pPr marR="76835" algn="r">
              <a:lnSpc>
                <a:spcPct val="100000"/>
              </a:lnSpc>
              <a:spcBef>
                <a:spcPts val="110"/>
              </a:spcBef>
            </a:pP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plan</a:t>
            </a:r>
            <a:endParaRPr sz="800">
              <a:latin typeface="Tahoma"/>
              <a:cs typeface="Tahoma"/>
            </a:endParaRPr>
          </a:p>
        </p:txBody>
      </p:sp>
      <p:pic>
        <p:nvPicPr>
          <p:cNvPr id="31" name="object 3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050156" y="1617132"/>
            <a:ext cx="183051" cy="95843"/>
          </a:xfrm>
          <a:prstGeom prst="rect">
            <a:avLst/>
          </a:prstGeom>
        </p:spPr>
      </p:pic>
      <p:sp>
        <p:nvSpPr>
          <p:cNvPr id="32" name="object 32"/>
          <p:cNvSpPr txBox="1"/>
          <p:nvPr/>
        </p:nvSpPr>
        <p:spPr>
          <a:xfrm>
            <a:off x="2626029" y="1210767"/>
            <a:ext cx="884555" cy="10553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9870" marR="222250" algn="ctr">
              <a:lnSpc>
                <a:spcPct val="111600"/>
              </a:lnSpc>
              <a:spcBef>
                <a:spcPts val="100"/>
              </a:spcBef>
            </a:pP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Feasible together?</a:t>
            </a:r>
            <a:endParaRPr sz="800">
              <a:latin typeface="Tahoma"/>
              <a:cs typeface="Tahoma"/>
            </a:endParaRPr>
          </a:p>
          <a:p>
            <a:pPr marL="169545" algn="ctr">
              <a:lnSpc>
                <a:spcPct val="100000"/>
              </a:lnSpc>
              <a:spcBef>
                <a:spcPts val="720"/>
              </a:spcBef>
            </a:pPr>
            <a:r>
              <a:rPr sz="700" spc="-25" dirty="0">
                <a:solidFill>
                  <a:srgbClr val="154B33"/>
                </a:solidFill>
                <a:latin typeface="Tahoma"/>
                <a:cs typeface="Tahoma"/>
              </a:rPr>
              <a:t>yes</a:t>
            </a:r>
            <a:endParaRPr sz="700">
              <a:latin typeface="Tahoma"/>
              <a:cs typeface="Tahoma"/>
            </a:endParaRPr>
          </a:p>
          <a:p>
            <a:pPr marL="12700" marR="5080" algn="ctr">
              <a:lnSpc>
                <a:spcPct val="111600"/>
              </a:lnSpc>
              <a:spcBef>
                <a:spcPts val="12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Rank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feasible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plans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Benefit,</a:t>
            </a:r>
            <a:r>
              <a:rPr sz="800" spc="5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cost, uncertainty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11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and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staff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effort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3" name="object 33"/>
          <p:cNvGrpSpPr/>
          <p:nvPr/>
        </p:nvGrpSpPr>
        <p:grpSpPr>
          <a:xfrm>
            <a:off x="3050156" y="2300903"/>
            <a:ext cx="36195" cy="88900"/>
            <a:chOff x="3050156" y="2300903"/>
            <a:chExt cx="36195" cy="88900"/>
          </a:xfrm>
        </p:grpSpPr>
        <p:sp>
          <p:nvSpPr>
            <p:cNvPr id="34" name="object 34"/>
            <p:cNvSpPr/>
            <p:nvPr/>
          </p:nvSpPr>
          <p:spPr>
            <a:xfrm>
              <a:off x="3068149" y="2300903"/>
              <a:ext cx="0" cy="59055"/>
            </a:xfrm>
            <a:custGeom>
              <a:avLst/>
              <a:gdLst/>
              <a:ahLst/>
              <a:cxnLst/>
              <a:rect l="l" t="t" r="r" b="b"/>
              <a:pathLst>
                <a:path h="59055">
                  <a:moveTo>
                    <a:pt x="0" y="0"/>
                  </a:moveTo>
                  <a:lnTo>
                    <a:pt x="0" y="58676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35"/>
            <p:cNvSpPr/>
            <p:nvPr/>
          </p:nvSpPr>
          <p:spPr>
            <a:xfrm>
              <a:off x="3055217" y="2350694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89">
                  <a:moveTo>
                    <a:pt x="25865" y="0"/>
                  </a:move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lnTo>
                    <a:pt x="2586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3055217" y="2350694"/>
              <a:ext cx="26034" cy="34290"/>
            </a:xfrm>
            <a:custGeom>
              <a:avLst/>
              <a:gdLst/>
              <a:ahLst/>
              <a:cxnLst/>
              <a:rect l="l" t="t" r="r" b="b"/>
              <a:pathLst>
                <a:path w="26035" h="34289">
                  <a:moveTo>
                    <a:pt x="12932" y="34045"/>
                  </a:moveTo>
                  <a:lnTo>
                    <a:pt x="25865" y="0"/>
                  </a:lnTo>
                  <a:lnTo>
                    <a:pt x="12932" y="11415"/>
                  </a:lnTo>
                  <a:lnTo>
                    <a:pt x="0" y="0"/>
                  </a:lnTo>
                  <a:lnTo>
                    <a:pt x="12932" y="34045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2638158" y="2408631"/>
            <a:ext cx="860425" cy="2978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">
              <a:lnSpc>
                <a:spcPct val="111600"/>
              </a:lnSpc>
              <a:spcBef>
                <a:spcPts val="100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Operator</a:t>
            </a:r>
            <a:r>
              <a:rPr sz="800" spc="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approval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Measure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Tahoma"/>
                <a:cs typeface="Tahoma"/>
              </a:rPr>
              <a:t>outcomes</a:t>
            </a:r>
            <a:endParaRPr sz="800">
              <a:latin typeface="Tahoma"/>
              <a:cs typeface="Tahoma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298754" y="3008173"/>
            <a:ext cx="3985260" cy="25272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sz="700" spc="-85" dirty="0">
                <a:latin typeface="Arial Black"/>
                <a:cs typeface="Arial Black"/>
              </a:rPr>
              <a:t>Proposed</a:t>
            </a:r>
            <a:r>
              <a:rPr sz="700" spc="5" dirty="0">
                <a:latin typeface="Arial Black"/>
                <a:cs typeface="Arial Black"/>
              </a:rPr>
              <a:t> </a:t>
            </a:r>
            <a:r>
              <a:rPr sz="700" spc="-70" dirty="0">
                <a:latin typeface="Arial Black"/>
                <a:cs typeface="Arial Black"/>
              </a:rPr>
              <a:t>differentiator:</a:t>
            </a:r>
            <a:r>
              <a:rPr sz="700" spc="80" dirty="0">
                <a:latin typeface="Arial Black"/>
                <a:cs typeface="Arial Black"/>
              </a:rPr>
              <a:t> </a:t>
            </a:r>
            <a:r>
              <a:rPr sz="700" spc="-20" dirty="0">
                <a:latin typeface="Tahoma"/>
                <a:cs typeface="Tahoma"/>
              </a:rPr>
              <a:t>evidence-</a:t>
            </a:r>
            <a:r>
              <a:rPr sz="700" spc="-25" dirty="0">
                <a:latin typeface="Tahoma"/>
                <a:cs typeface="Tahoma"/>
              </a:rPr>
              <a:t>aware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coordination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across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five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services,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with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measurable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decision </a:t>
            </a:r>
            <a:r>
              <a:rPr sz="700" dirty="0">
                <a:latin typeface="Tahoma"/>
                <a:cs typeface="Tahoma"/>
              </a:rPr>
              <a:t>trail.</a:t>
            </a:r>
            <a:r>
              <a:rPr sz="700" spc="9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Validate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against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independent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modules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current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practice.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40" name="object 40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  <p:sp>
        <p:nvSpPr>
          <p:cNvPr id="45" name="Rectangle 4">
            <a:extLst>
              <a:ext uri="{FF2B5EF4-FFF2-40B4-BE49-F238E27FC236}">
                <a16:creationId xmlns:a16="http://schemas.microsoft.com/office/drawing/2014/main" id="{2404803A-17B2-2165-3083-47F7013A78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843" y="453102"/>
            <a:ext cx="2153581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Five systems, one Campus Brain: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Coordinates energy, water, space, food and mobility through one shared decision process.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Tests the consequences before recommending: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Compares complete plans and checks how each action affects other services.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Knows what to check next: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Reuses existing data and requests targeted information only when it could change the decision.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Adapts across departments: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change in attendance or bus arrivals can update room allocation, cooking and resource schedules together.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Measures the combined impact:</a:t>
            </a:r>
            <a:r>
              <a:rPr kumimoji="0" lang="en-US" altLang="en-US" sz="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Evaluates resource savings and service quality under one intervention record, avoiding double-counted benefits.</a:t>
            </a:r>
          </a:p>
        </p:txBody>
      </p:sp>
    </p:spTree>
  </p:cSld>
  <p:clrMapOvr>
    <a:masterClrMapping/>
  </p:clrMapOvr>
  <p:transition>
    <p:cut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35" dirty="0">
                <a:latin typeface="Arial Black"/>
                <a:cs typeface="Arial Black"/>
              </a:rPr>
              <a:t>Feasibility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dirty="0">
                <a:latin typeface="Arial Black"/>
                <a:cs typeface="Arial Black"/>
              </a:rPr>
              <a:t>&amp;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14" dirty="0">
                <a:latin typeface="Arial Black"/>
                <a:cs typeface="Arial Black"/>
              </a:rPr>
              <a:t>Scalability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377101" y="640727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4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77101" y="1077595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377101" y="1514449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7"/>
                </a:lnTo>
                <a:lnTo>
                  <a:pt x="52197" y="52197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377101" y="1951316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377101" y="2388184"/>
            <a:ext cx="52705" cy="52705"/>
          </a:xfrm>
          <a:custGeom>
            <a:avLst/>
            <a:gdLst/>
            <a:ahLst/>
            <a:cxnLst/>
            <a:rect l="l" t="t" r="r" b="b"/>
            <a:pathLst>
              <a:path w="52704" h="52705">
                <a:moveTo>
                  <a:pt x="52197" y="0"/>
                </a:moveTo>
                <a:lnTo>
                  <a:pt x="0" y="0"/>
                </a:lnTo>
                <a:lnTo>
                  <a:pt x="0" y="52196"/>
                </a:lnTo>
                <a:lnTo>
                  <a:pt x="52197" y="52196"/>
                </a:lnTo>
                <a:lnTo>
                  <a:pt x="52197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311302" y="547830"/>
            <a:ext cx="3974465" cy="25990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895" marR="248285">
              <a:lnSpc>
                <a:spcPct val="113100"/>
              </a:lnSpc>
              <a:spcBef>
                <a:spcPts val="100"/>
              </a:spcBef>
            </a:pPr>
            <a:r>
              <a:rPr sz="900" spc="-95" dirty="0">
                <a:latin typeface="Arial Black"/>
                <a:cs typeface="Arial Black"/>
              </a:rPr>
              <a:t>Starting</a:t>
            </a:r>
            <a:r>
              <a:rPr sz="900" spc="20" dirty="0">
                <a:latin typeface="Arial Black"/>
                <a:cs typeface="Arial Black"/>
              </a:rPr>
              <a:t> </a:t>
            </a:r>
            <a:r>
              <a:rPr sz="900" spc="-60" dirty="0">
                <a:latin typeface="Arial Black"/>
                <a:cs typeface="Arial Black"/>
              </a:rPr>
              <a:t>point:</a:t>
            </a:r>
            <a:r>
              <a:rPr sz="900" spc="20" dirty="0">
                <a:latin typeface="Arial Black"/>
                <a:cs typeface="Arial Black"/>
              </a:rPr>
              <a:t> </a:t>
            </a:r>
            <a:r>
              <a:rPr sz="900" dirty="0">
                <a:latin typeface="Arial"/>
                <a:cs typeface="Arial"/>
              </a:rPr>
              <a:t>electricity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visualisation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for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first-</a:t>
            </a:r>
            <a:r>
              <a:rPr sz="900" spc="-30" dirty="0">
                <a:latin typeface="Arial"/>
                <a:cs typeface="Arial"/>
              </a:rPr>
              <a:t>year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blocks.</a:t>
            </a:r>
            <a:r>
              <a:rPr sz="900" spc="10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Five-</a:t>
            </a:r>
            <a:r>
              <a:rPr sz="900" spc="-10" dirty="0">
                <a:latin typeface="Arial"/>
                <a:cs typeface="Arial"/>
              </a:rPr>
              <a:t>system </a:t>
            </a:r>
            <a:r>
              <a:rPr sz="900" spc="-35" dirty="0">
                <a:latin typeface="Arial"/>
                <a:cs typeface="Arial"/>
              </a:rPr>
              <a:t>forecasts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control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recommendations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remain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proposed.</a:t>
            </a:r>
            <a:endParaRPr sz="900">
              <a:latin typeface="Arial"/>
              <a:cs typeface="Arial"/>
            </a:endParaRPr>
          </a:p>
          <a:p>
            <a:pPr marL="175895" marR="101600">
              <a:lnSpc>
                <a:spcPct val="113100"/>
              </a:lnSpc>
              <a:spcBef>
                <a:spcPts val="994"/>
              </a:spcBef>
            </a:pPr>
            <a:r>
              <a:rPr sz="900" spc="-105" dirty="0">
                <a:latin typeface="Arial Black"/>
                <a:cs typeface="Arial Black"/>
              </a:rPr>
              <a:t>Bounded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60" dirty="0">
                <a:latin typeface="Arial Black"/>
                <a:cs typeface="Arial Black"/>
              </a:rPr>
              <a:t>pilot:</a:t>
            </a:r>
            <a:r>
              <a:rPr sz="900" spc="-15" dirty="0">
                <a:latin typeface="Arial Black"/>
                <a:cs typeface="Arial Black"/>
              </a:rPr>
              <a:t> </a:t>
            </a:r>
            <a:r>
              <a:rPr sz="900" spc="-30" dirty="0">
                <a:latin typeface="Arial"/>
                <a:cs typeface="Arial"/>
              </a:rPr>
              <a:t>one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academic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block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a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mapped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hostel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water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zone,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with </a:t>
            </a:r>
            <a:r>
              <a:rPr sz="900" spc="-40" dirty="0">
                <a:latin typeface="Arial"/>
                <a:cs typeface="Arial"/>
              </a:rPr>
              <a:t>selected</a:t>
            </a:r>
            <a:r>
              <a:rPr sz="900" spc="-25" dirty="0">
                <a:latin typeface="Arial"/>
                <a:cs typeface="Arial"/>
              </a:rPr>
              <a:t> </a:t>
            </a:r>
            <a:r>
              <a:rPr sz="900" spc="-70" dirty="0">
                <a:latin typeface="Arial"/>
                <a:cs typeface="Arial"/>
              </a:rPr>
              <a:t>mess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 </a:t>
            </a:r>
            <a:r>
              <a:rPr sz="900" spc="-20" dirty="0">
                <a:latin typeface="Arial"/>
                <a:cs typeface="Arial"/>
              </a:rPr>
              <a:t>bus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records.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spc="-75" dirty="0">
                <a:latin typeface="Arial"/>
                <a:cs typeface="Arial"/>
              </a:rPr>
              <a:t>Reuse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compatible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meters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dirty="0">
                <a:latin typeface="Arial"/>
                <a:cs typeface="Arial"/>
              </a:rPr>
              <a:t> staff </a:t>
            </a:r>
            <a:r>
              <a:rPr sz="900" spc="-10" dirty="0">
                <a:latin typeface="Arial"/>
                <a:cs typeface="Arial"/>
              </a:rPr>
              <a:t>data.</a:t>
            </a:r>
            <a:endParaRPr sz="900">
              <a:latin typeface="Arial"/>
              <a:cs typeface="Arial"/>
            </a:endParaRPr>
          </a:p>
          <a:p>
            <a:pPr marL="175895" marR="202565">
              <a:lnSpc>
                <a:spcPct val="113100"/>
              </a:lnSpc>
              <a:spcBef>
                <a:spcPts val="1000"/>
              </a:spcBef>
            </a:pPr>
            <a:r>
              <a:rPr sz="900" spc="-95" dirty="0">
                <a:latin typeface="Arial Black"/>
                <a:cs typeface="Arial Black"/>
              </a:rPr>
              <a:t>Validate,</a:t>
            </a:r>
            <a:r>
              <a:rPr sz="900" spc="20" dirty="0">
                <a:latin typeface="Arial Black"/>
                <a:cs typeface="Arial Black"/>
              </a:rPr>
              <a:t> </a:t>
            </a:r>
            <a:r>
              <a:rPr sz="900" spc="-100" dirty="0">
                <a:latin typeface="Arial Black"/>
                <a:cs typeface="Arial Black"/>
              </a:rPr>
              <a:t>then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55" dirty="0">
                <a:latin typeface="Arial Black"/>
                <a:cs typeface="Arial Black"/>
              </a:rPr>
              <a:t>trial:</a:t>
            </a:r>
            <a:r>
              <a:rPr sz="900" spc="70" dirty="0">
                <a:latin typeface="Arial Black"/>
                <a:cs typeface="Arial Black"/>
              </a:rPr>
              <a:t> </a:t>
            </a:r>
            <a:r>
              <a:rPr sz="900" spc="-25" dirty="0">
                <a:latin typeface="Arial"/>
                <a:cs typeface="Arial"/>
              </a:rPr>
              <a:t>labelled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simulations,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read-</a:t>
            </a:r>
            <a:r>
              <a:rPr sz="900" spc="-10" dirty="0">
                <a:latin typeface="Arial"/>
                <a:cs typeface="Arial"/>
              </a:rPr>
              <a:t>only</a:t>
            </a:r>
            <a:r>
              <a:rPr sz="900" spc="4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observation,</a:t>
            </a:r>
            <a:r>
              <a:rPr sz="900" spc="4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baseline </a:t>
            </a:r>
            <a:r>
              <a:rPr sz="900" spc="-35" dirty="0">
                <a:latin typeface="Arial"/>
                <a:cs typeface="Arial"/>
              </a:rPr>
              <a:t>comparison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operator-</a:t>
            </a:r>
            <a:r>
              <a:rPr sz="900" spc="-30" dirty="0">
                <a:latin typeface="Arial"/>
                <a:cs typeface="Arial"/>
              </a:rPr>
              <a:t>approved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actions.</a:t>
            </a:r>
            <a:endParaRPr sz="900">
              <a:latin typeface="Arial"/>
              <a:cs typeface="Arial"/>
            </a:endParaRPr>
          </a:p>
          <a:p>
            <a:pPr marL="175895" marR="6350">
              <a:lnSpc>
                <a:spcPct val="113100"/>
              </a:lnSpc>
              <a:spcBef>
                <a:spcPts val="994"/>
              </a:spcBef>
            </a:pPr>
            <a:r>
              <a:rPr sz="900" spc="-135" dirty="0">
                <a:latin typeface="Arial Black"/>
                <a:cs typeface="Arial Black"/>
              </a:rPr>
              <a:t>Scale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25" dirty="0">
                <a:latin typeface="Arial Black"/>
                <a:cs typeface="Arial Black"/>
              </a:rPr>
              <a:t>by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90" dirty="0">
                <a:latin typeface="Arial Black"/>
                <a:cs typeface="Arial Black"/>
              </a:rPr>
              <a:t>configuration:</a:t>
            </a:r>
            <a:r>
              <a:rPr sz="900" spc="15" dirty="0">
                <a:latin typeface="Arial Black"/>
                <a:cs typeface="Arial Black"/>
              </a:rPr>
              <a:t> </a:t>
            </a:r>
            <a:r>
              <a:rPr sz="900" spc="-45" dirty="0">
                <a:latin typeface="Arial"/>
                <a:cs typeface="Arial"/>
              </a:rPr>
              <a:t>reusable</a:t>
            </a:r>
            <a:r>
              <a:rPr sz="900" spc="-2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adapters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campus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IDs,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local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calibration, </a:t>
            </a:r>
            <a:r>
              <a:rPr sz="900" spc="-75" dirty="0">
                <a:latin typeface="Arial"/>
                <a:cs typeface="Arial"/>
              </a:rPr>
              <a:t>access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controls</a:t>
            </a:r>
            <a:r>
              <a:rPr sz="900" spc="-1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explicit </a:t>
            </a:r>
            <a:r>
              <a:rPr sz="900" spc="-10" dirty="0">
                <a:latin typeface="Arial"/>
                <a:cs typeface="Arial"/>
              </a:rPr>
              <a:t>operating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constraints.</a:t>
            </a:r>
            <a:endParaRPr sz="900">
              <a:latin typeface="Arial"/>
              <a:cs typeface="Arial"/>
            </a:endParaRPr>
          </a:p>
          <a:p>
            <a:pPr marL="175895" marR="26670">
              <a:lnSpc>
                <a:spcPct val="113100"/>
              </a:lnSpc>
              <a:spcBef>
                <a:spcPts val="994"/>
              </a:spcBef>
            </a:pPr>
            <a:r>
              <a:rPr sz="900" spc="-135" dirty="0">
                <a:latin typeface="Arial Black"/>
                <a:cs typeface="Arial Black"/>
              </a:rPr>
              <a:t>Risks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14" dirty="0">
                <a:latin typeface="Arial Black"/>
                <a:cs typeface="Arial Black"/>
              </a:rPr>
              <a:t>and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10" dirty="0">
                <a:latin typeface="Arial Black"/>
                <a:cs typeface="Arial Black"/>
              </a:rPr>
              <a:t>response:</a:t>
            </a:r>
            <a:r>
              <a:rPr sz="900" spc="35" dirty="0">
                <a:latin typeface="Arial Black"/>
                <a:cs typeface="Arial Black"/>
              </a:rPr>
              <a:t> </a:t>
            </a:r>
            <a:r>
              <a:rPr sz="900" dirty="0">
                <a:latin typeface="Arial"/>
                <a:cs typeface="Arial"/>
              </a:rPr>
              <a:t>buffer</a:t>
            </a:r>
            <a:r>
              <a:rPr sz="900" spc="-5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network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5" dirty="0">
                <a:latin typeface="Arial"/>
                <a:cs typeface="Arial"/>
              </a:rPr>
              <a:t>outages,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flag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stale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data,</a:t>
            </a:r>
            <a:r>
              <a:rPr sz="900" spc="1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reconcile</a:t>
            </a:r>
            <a:r>
              <a:rPr sz="900" spc="1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meter </a:t>
            </a:r>
            <a:r>
              <a:rPr sz="900" spc="-45" dirty="0">
                <a:latin typeface="Arial"/>
                <a:cs typeface="Arial"/>
              </a:rPr>
              <a:t>coverage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check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forecast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25" dirty="0">
                <a:latin typeface="Arial"/>
                <a:cs typeface="Arial"/>
              </a:rPr>
              <a:t>errors.</a:t>
            </a:r>
            <a:r>
              <a:rPr sz="900" spc="8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Optional </a:t>
            </a:r>
            <a:r>
              <a:rPr sz="900" spc="-30" dirty="0">
                <a:latin typeface="Arial"/>
                <a:cs typeface="Arial"/>
              </a:rPr>
              <a:t>entrance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radar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requires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50" dirty="0">
                <a:latin typeface="Arial"/>
                <a:cs typeface="Arial"/>
              </a:rPr>
              <a:t>a</a:t>
            </a:r>
            <a:r>
              <a:rPr sz="900" spc="-45" dirty="0">
                <a:latin typeface="Arial"/>
                <a:cs typeface="Arial"/>
              </a:rPr>
              <a:t> separate</a:t>
            </a:r>
            <a:r>
              <a:rPr sz="900" spc="2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pilot.</a:t>
            </a:r>
            <a:endParaRPr sz="900">
              <a:latin typeface="Arial"/>
              <a:cs typeface="Arial"/>
            </a:endParaRPr>
          </a:p>
          <a:p>
            <a:pPr marL="12700" marR="5080">
              <a:lnSpc>
                <a:spcPct val="117300"/>
              </a:lnSpc>
              <a:spcBef>
                <a:spcPts val="1000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[1]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Bonnet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et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al.,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2002;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[3]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Antunes-Batista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et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al.,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2026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;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[4]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Ślesicka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et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al.,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2026.</a:t>
            </a:r>
            <a:r>
              <a:rPr sz="650" spc="1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Forecast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occupancy</a:t>
            </a:r>
            <a:r>
              <a:rPr sz="650" spc="5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is</a:t>
            </a:r>
            <a:r>
              <a:rPr sz="650" spc="7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not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live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presence.</a:t>
            </a:r>
            <a:r>
              <a:rPr sz="650" spc="16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No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universal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sensor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count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or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accuracy</a:t>
            </a:r>
            <a:r>
              <a:rPr sz="650" spc="7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is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assumed.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4" name="object 14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5" dirty="0">
                <a:latin typeface="Arial Black"/>
                <a:cs typeface="Arial Black"/>
              </a:rPr>
              <a:t>Cost</a:t>
            </a:r>
            <a:r>
              <a:rPr sz="1100" spc="35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for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110" dirty="0">
                <a:latin typeface="Arial Black"/>
                <a:cs typeface="Arial Black"/>
              </a:rPr>
              <a:t>Product</a:t>
            </a:r>
            <a:r>
              <a:rPr sz="1100" spc="40" dirty="0">
                <a:latin typeface="Arial Black"/>
                <a:cs typeface="Arial Black"/>
              </a:rPr>
              <a:t> </a:t>
            </a:r>
            <a:r>
              <a:rPr sz="1100" spc="-70" dirty="0">
                <a:latin typeface="Arial Black"/>
                <a:cs typeface="Arial Black"/>
              </a:rPr>
              <a:t>(Optional)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302" y="373869"/>
            <a:ext cx="3747135" cy="485140"/>
          </a:xfrm>
          <a:prstGeom prst="rect">
            <a:avLst/>
          </a:prstGeom>
        </p:spPr>
        <p:txBody>
          <a:bodyPr vert="horz" wrap="square" lIns="0" tIns="7048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55"/>
              </a:spcBef>
            </a:pPr>
            <a:r>
              <a:rPr sz="900" spc="-105" dirty="0">
                <a:latin typeface="Arial Black"/>
                <a:cs typeface="Arial Black"/>
              </a:rPr>
              <a:t>Proposed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85" dirty="0">
                <a:latin typeface="Arial Black"/>
                <a:cs typeface="Arial Black"/>
              </a:rPr>
              <a:t>three-</a:t>
            </a:r>
            <a:r>
              <a:rPr sz="900" spc="-100" dirty="0">
                <a:latin typeface="Arial Black"/>
                <a:cs typeface="Arial Black"/>
              </a:rPr>
              <a:t>month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55" dirty="0">
                <a:latin typeface="Arial Black"/>
                <a:cs typeface="Arial Black"/>
              </a:rPr>
              <a:t>pilot:</a:t>
            </a:r>
            <a:r>
              <a:rPr sz="900" spc="114" dirty="0">
                <a:latin typeface="Arial Black"/>
                <a:cs typeface="Arial Black"/>
              </a:rPr>
              <a:t> </a:t>
            </a:r>
            <a:r>
              <a:rPr sz="900" spc="-40" dirty="0">
                <a:latin typeface="Arial Black"/>
                <a:cs typeface="Arial Black"/>
              </a:rPr>
              <a:t>INR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00" dirty="0">
                <a:latin typeface="Arial Black"/>
                <a:cs typeface="Arial Black"/>
              </a:rPr>
              <a:t>75,000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05" dirty="0">
                <a:latin typeface="Arial Black"/>
                <a:cs typeface="Arial Black"/>
              </a:rPr>
              <a:t>planning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0" dirty="0">
                <a:latin typeface="Arial Black"/>
                <a:cs typeface="Arial Black"/>
              </a:rPr>
              <a:t>allocation.</a:t>
            </a:r>
            <a:endParaRPr sz="900">
              <a:latin typeface="Arial Black"/>
              <a:cs typeface="Arial Black"/>
            </a:endParaRPr>
          </a:p>
          <a:p>
            <a:pPr marL="12700" marR="5080">
              <a:lnSpc>
                <a:spcPct val="106300"/>
              </a:lnSpc>
              <a:spcBef>
                <a:spcPts val="300"/>
              </a:spcBef>
            </a:pPr>
            <a:r>
              <a:rPr sz="700" dirty="0">
                <a:latin typeface="Tahoma"/>
                <a:cs typeface="Tahoma"/>
              </a:rPr>
              <a:t>Illustrative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budget,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subject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to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site</a:t>
            </a:r>
            <a:r>
              <a:rPr sz="700" spc="-10" dirty="0">
                <a:latin typeface="Tahoma"/>
                <a:cs typeface="Tahoma"/>
              </a:rPr>
              <a:t> survey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quotations.</a:t>
            </a:r>
            <a:r>
              <a:rPr sz="700" spc="7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Assumes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compatible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existing</a:t>
            </a:r>
            <a:r>
              <a:rPr sz="700" spc="-10" dirty="0">
                <a:latin typeface="Tahoma"/>
                <a:cs typeface="Tahoma"/>
              </a:rPr>
              <a:t> meters, </a:t>
            </a:r>
            <a:r>
              <a:rPr sz="700" dirty="0">
                <a:latin typeface="Tahoma"/>
                <a:cs typeface="Tahoma"/>
              </a:rPr>
              <a:t>campus</a:t>
            </a:r>
            <a:r>
              <a:rPr sz="700" spc="-2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connectivity</a:t>
            </a:r>
            <a:r>
              <a:rPr sz="700" spc="-2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-2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student</a:t>
            </a:r>
            <a:r>
              <a:rPr sz="700" spc="-2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development.</a:t>
            </a:r>
            <a:endParaRPr sz="700">
              <a:latin typeface="Tahoma"/>
              <a:cs typeface="Tahoma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485190" y="934288"/>
          <a:ext cx="3637279" cy="18440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48475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252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6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Pilot</a:t>
                      </a:r>
                      <a:r>
                        <a:rPr sz="900" spc="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allocation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9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Amount</a:t>
                      </a:r>
                      <a:r>
                        <a:rPr sz="900" spc="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(INR)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Gateways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and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device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interfaces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15,000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Selective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sensing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or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meter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rental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20,000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Installation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calibration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20,000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Hosting and connectivity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for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three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months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5,000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Contingency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ct val="100000"/>
                        </a:lnSpc>
                        <a:spcBef>
                          <a:spcPts val="785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15,000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1302" y="2868977"/>
            <a:ext cx="3850640" cy="365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sz="700" spc="-70" dirty="0">
                <a:latin typeface="Arial Black"/>
                <a:cs typeface="Arial Black"/>
              </a:rPr>
              <a:t>Scope:</a:t>
            </a:r>
            <a:r>
              <a:rPr sz="700" spc="75" dirty="0">
                <a:latin typeface="Arial Black"/>
                <a:cs typeface="Arial Black"/>
              </a:rPr>
              <a:t> </a:t>
            </a:r>
            <a:r>
              <a:rPr sz="700" spc="-10" dirty="0">
                <a:latin typeface="Tahoma"/>
                <a:cs typeface="Tahoma"/>
              </a:rPr>
              <a:t>selected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block/hostel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monitoring;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Food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Mobility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use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records.</a:t>
            </a:r>
            <a:r>
              <a:rPr sz="700" spc="9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Student</a:t>
            </a:r>
            <a:r>
              <a:rPr sz="700" spc="1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labour</a:t>
            </a:r>
            <a:r>
              <a:rPr sz="700" spc="10" dirty="0">
                <a:latin typeface="Tahoma"/>
                <a:cs typeface="Tahoma"/>
              </a:rPr>
              <a:t> </a:t>
            </a:r>
            <a:r>
              <a:rPr sz="700" spc="-25" dirty="0">
                <a:latin typeface="Tahoma"/>
                <a:cs typeface="Tahoma"/>
              </a:rPr>
              <a:t>and</a:t>
            </a:r>
            <a:r>
              <a:rPr sz="700" dirty="0">
                <a:latin typeface="Tahoma"/>
                <a:cs typeface="Tahoma"/>
              </a:rPr>
              <a:t> laptops are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in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kind.</a:t>
            </a:r>
            <a:r>
              <a:rPr sz="700" spc="8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Excludes commercial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development,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bulk meter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replacement,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major civil</a:t>
            </a:r>
            <a:r>
              <a:rPr sz="700" spc="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work, </a:t>
            </a:r>
            <a:r>
              <a:rPr sz="700" dirty="0">
                <a:latin typeface="Tahoma"/>
                <a:cs typeface="Tahoma"/>
              </a:rPr>
              <a:t>automatic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controls</a:t>
            </a:r>
            <a:r>
              <a:rPr sz="700" spc="3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and</a:t>
            </a:r>
            <a:r>
              <a:rPr sz="700" spc="2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full-</a:t>
            </a:r>
            <a:r>
              <a:rPr sz="700" dirty="0">
                <a:latin typeface="Tahoma"/>
                <a:cs typeface="Tahoma"/>
              </a:rPr>
              <a:t>campus</a:t>
            </a:r>
            <a:r>
              <a:rPr sz="700" spc="30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rollout.</a:t>
            </a:r>
            <a:endParaRPr sz="70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2715895" cy="18081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70" dirty="0">
                <a:latin typeface="Arial Black"/>
                <a:cs typeface="Arial Black"/>
              </a:rPr>
              <a:t>Use</a:t>
            </a:r>
            <a:r>
              <a:rPr sz="1100" spc="30" dirty="0">
                <a:latin typeface="Arial Black"/>
                <a:cs typeface="Arial Black"/>
              </a:rPr>
              <a:t> </a:t>
            </a:r>
            <a:r>
              <a:rPr sz="1100" spc="-190">
                <a:latin typeface="Arial Black"/>
                <a:cs typeface="Arial Black"/>
              </a:rPr>
              <a:t>Cases</a:t>
            </a:r>
            <a:r>
              <a:rPr sz="1100" spc="30">
                <a:latin typeface="Arial Black"/>
                <a:cs typeface="Arial Black"/>
              </a:rPr>
              <a:t> </a:t>
            </a:r>
            <a:endParaRPr sz="1100" dirty="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pSp>
        <p:nvGrpSpPr>
          <p:cNvPr id="6" name="object 6"/>
          <p:cNvGrpSpPr/>
          <p:nvPr/>
        </p:nvGrpSpPr>
        <p:grpSpPr>
          <a:xfrm>
            <a:off x="364265" y="619618"/>
            <a:ext cx="1251585" cy="657225"/>
            <a:chOff x="364265" y="619618"/>
            <a:chExt cx="1251585" cy="657225"/>
          </a:xfrm>
        </p:grpSpPr>
        <p:sp>
          <p:nvSpPr>
            <p:cNvPr id="7" name="object 7"/>
            <p:cNvSpPr/>
            <p:nvPr/>
          </p:nvSpPr>
          <p:spPr>
            <a:xfrm>
              <a:off x="368710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68710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9" name="object 9"/>
          <p:cNvSpPr txBox="1"/>
          <p:nvPr/>
        </p:nvSpPr>
        <p:spPr>
          <a:xfrm>
            <a:off x="438581" y="440879"/>
            <a:ext cx="1102995" cy="7607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7345">
              <a:lnSpc>
                <a:spcPct val="100000"/>
              </a:lnSpc>
              <a:spcBef>
                <a:spcPts val="95"/>
              </a:spcBef>
            </a:pPr>
            <a:r>
              <a:rPr sz="800" spc="-10" dirty="0">
                <a:solidFill>
                  <a:srgbClr val="154B33"/>
                </a:solidFill>
                <a:latin typeface="Arial Black"/>
                <a:cs typeface="Arial Black"/>
              </a:rPr>
              <a:t>Evidence</a:t>
            </a:r>
            <a:endParaRPr sz="800">
              <a:latin typeface="Arial Black"/>
              <a:cs typeface="Arial Black"/>
            </a:endParaRPr>
          </a:p>
          <a:p>
            <a:pPr marL="220979">
              <a:lnSpc>
                <a:spcPct val="100000"/>
              </a:lnSpc>
              <a:spcBef>
                <a:spcPts val="855"/>
              </a:spcBef>
            </a:pPr>
            <a:r>
              <a:rPr sz="800" dirty="0">
                <a:solidFill>
                  <a:srgbClr val="154B33"/>
                </a:solidFill>
                <a:latin typeface="Arial Black"/>
                <a:cs typeface="Arial Black"/>
              </a:rPr>
              <a:t>1.</a:t>
            </a:r>
            <a:r>
              <a:rPr sz="800" spc="4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54B33"/>
                </a:solidFill>
                <a:latin typeface="Arial Black"/>
                <a:cs typeface="Arial Black"/>
              </a:rPr>
              <a:t>Event</a:t>
            </a:r>
            <a:r>
              <a:rPr sz="800" spc="1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Arial Black"/>
                <a:cs typeface="Arial Black"/>
              </a:rPr>
              <a:t>peak</a:t>
            </a:r>
            <a:endParaRPr sz="800">
              <a:latin typeface="Arial Black"/>
              <a:cs typeface="Arial Black"/>
            </a:endParaRPr>
          </a:p>
          <a:p>
            <a:pPr marL="51435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600</a:t>
            </a:r>
            <a:r>
              <a:rPr sz="800" spc="-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people;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650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seats.</a:t>
            </a:r>
            <a:endParaRPr sz="800">
              <a:latin typeface="Tahoma"/>
              <a:cs typeface="Tahoma"/>
            </a:endParaRPr>
          </a:p>
          <a:p>
            <a:pPr marL="42545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145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kW;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limit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120</a:t>
            </a:r>
            <a:r>
              <a:rPr sz="800" spc="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kW.</a:t>
            </a:r>
            <a:endParaRPr sz="8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Bus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12:15;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meals</a:t>
            </a:r>
            <a:r>
              <a:rPr sz="800" spc="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12:30.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1678279" y="619618"/>
            <a:ext cx="1251585" cy="657225"/>
            <a:chOff x="1678279" y="619618"/>
            <a:chExt cx="1251585" cy="657225"/>
          </a:xfrm>
        </p:grpSpPr>
        <p:sp>
          <p:nvSpPr>
            <p:cNvPr id="11" name="object 11"/>
            <p:cNvSpPr/>
            <p:nvPr/>
          </p:nvSpPr>
          <p:spPr>
            <a:xfrm>
              <a:off x="1682724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682724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767014" y="431036"/>
            <a:ext cx="1074420" cy="7715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5"/>
              </a:spcBef>
            </a:pPr>
            <a:r>
              <a:rPr sz="800" spc="-95" dirty="0">
                <a:solidFill>
                  <a:srgbClr val="154B33"/>
                </a:solidFill>
                <a:latin typeface="Arial Black"/>
                <a:cs typeface="Arial Black"/>
              </a:rPr>
              <a:t>Proposed</a:t>
            </a:r>
            <a:r>
              <a:rPr sz="800" spc="6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Arial Black"/>
                <a:cs typeface="Arial Black"/>
              </a:rPr>
              <a:t>decision</a:t>
            </a:r>
            <a:endParaRPr sz="800">
              <a:latin typeface="Arial Black"/>
              <a:cs typeface="Arial Black"/>
            </a:endParaRPr>
          </a:p>
          <a:p>
            <a:pPr marL="109220" marR="101600" algn="ctr">
              <a:lnSpc>
                <a:spcPct val="104600"/>
              </a:lnSpc>
              <a:spcBef>
                <a:spcPts val="900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Shift</a:t>
            </a:r>
            <a:r>
              <a:rPr sz="8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30</a:t>
            </a:r>
            <a:r>
              <a:rPr sz="8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kW</a:t>
            </a:r>
            <a:r>
              <a:rPr sz="8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Tahoma"/>
                <a:cs typeface="Tahoma"/>
              </a:rPr>
              <a:t>pump.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Earlier:</a:t>
            </a:r>
            <a:r>
              <a:rPr sz="800" spc="12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10" dirty="0">
                <a:solidFill>
                  <a:srgbClr val="FFFFFF"/>
                </a:solidFill>
                <a:latin typeface="Arial Black"/>
                <a:cs typeface="Arial Black"/>
              </a:rPr>
              <a:t>110</a:t>
            </a:r>
            <a:r>
              <a:rPr sz="8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Arial Black"/>
                <a:cs typeface="Arial Black"/>
              </a:rPr>
              <a:t>kW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Event:</a:t>
            </a:r>
            <a:r>
              <a:rPr sz="800" spc="17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10" dirty="0">
                <a:solidFill>
                  <a:srgbClr val="FFFFFF"/>
                </a:solidFill>
                <a:latin typeface="Arial Black"/>
                <a:cs typeface="Arial Black"/>
              </a:rPr>
              <a:t>115</a:t>
            </a:r>
            <a:r>
              <a:rPr sz="800" spc="15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Arial Black"/>
                <a:cs typeface="Arial Black"/>
              </a:rPr>
              <a:t>kW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800" spc="-20" dirty="0">
                <a:solidFill>
                  <a:srgbClr val="FFFFFF"/>
                </a:solidFill>
                <a:latin typeface="Tahoma"/>
                <a:cs typeface="Tahoma"/>
              </a:rPr>
              <a:t>40</a:t>
            </a:r>
            <a:r>
              <a:rPr sz="800" spc="-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i="1" spc="190" dirty="0">
                <a:solidFill>
                  <a:srgbClr val="FFFFFF"/>
                </a:solidFill>
                <a:latin typeface="Arial"/>
                <a:cs typeface="Arial"/>
              </a:rPr>
              <a:t>−</a:t>
            </a:r>
            <a:r>
              <a:rPr sz="8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spc="-20" dirty="0">
                <a:solidFill>
                  <a:srgbClr val="FFFFFF"/>
                </a:solidFill>
                <a:latin typeface="Tahoma"/>
                <a:cs typeface="Tahoma"/>
              </a:rPr>
              <a:t>24</a:t>
            </a:r>
            <a:r>
              <a:rPr sz="800" spc="-4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i="1" spc="190" dirty="0">
                <a:solidFill>
                  <a:srgbClr val="FFFFFF"/>
                </a:solidFill>
                <a:latin typeface="Arial"/>
                <a:cs typeface="Arial"/>
              </a:rPr>
              <a:t>−</a:t>
            </a:r>
            <a:r>
              <a:rPr sz="800" i="1" spc="-1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10</a:t>
            </a:r>
            <a:r>
              <a:rPr sz="800" spc="4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800" spc="5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10" dirty="0">
                <a:solidFill>
                  <a:srgbClr val="FFFFFF"/>
                </a:solidFill>
                <a:latin typeface="Arial Black"/>
                <a:cs typeface="Arial Black"/>
              </a:rPr>
              <a:t>6</a:t>
            </a:r>
            <a:r>
              <a:rPr sz="800" spc="-1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Arial Black"/>
                <a:cs typeface="Arial Black"/>
              </a:rPr>
              <a:t>m</a:t>
            </a:r>
            <a:r>
              <a:rPr sz="900" spc="-37" baseline="27777" dirty="0">
                <a:solidFill>
                  <a:srgbClr val="FFFFFF"/>
                </a:solidFill>
                <a:latin typeface="Arial Black"/>
                <a:cs typeface="Arial Black"/>
              </a:rPr>
              <a:t>3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2" name="object 42"/>
          <p:cNvGrpSpPr/>
          <p:nvPr/>
        </p:nvGrpSpPr>
        <p:grpSpPr>
          <a:xfrm>
            <a:off x="1615682" y="930074"/>
            <a:ext cx="1367790" cy="36195"/>
            <a:chOff x="1615682" y="930074"/>
            <a:chExt cx="1367790" cy="36195"/>
          </a:xfrm>
        </p:grpSpPr>
        <p:sp>
          <p:nvSpPr>
            <p:cNvPr id="43" name="object 43"/>
            <p:cNvSpPr/>
            <p:nvPr/>
          </p:nvSpPr>
          <p:spPr>
            <a:xfrm>
              <a:off x="1615682" y="94806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4" name="object 44"/>
            <p:cNvSpPr/>
            <p:nvPr/>
          </p:nvSpPr>
          <p:spPr>
            <a:xfrm>
              <a:off x="1629836" y="93513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5" name="object 45"/>
            <p:cNvSpPr/>
            <p:nvPr/>
          </p:nvSpPr>
          <p:spPr>
            <a:xfrm>
              <a:off x="1629836" y="93513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6" name="object 46"/>
            <p:cNvSpPr/>
            <p:nvPr/>
          </p:nvSpPr>
          <p:spPr>
            <a:xfrm>
              <a:off x="2929695" y="94806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47"/>
            <p:cNvSpPr/>
            <p:nvPr/>
          </p:nvSpPr>
          <p:spPr>
            <a:xfrm>
              <a:off x="2943850" y="93513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8" name="object 48"/>
            <p:cNvSpPr/>
            <p:nvPr/>
          </p:nvSpPr>
          <p:spPr>
            <a:xfrm>
              <a:off x="2943850" y="93513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4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2992292" y="619618"/>
            <a:ext cx="1251585" cy="657225"/>
            <a:chOff x="2992292" y="619618"/>
            <a:chExt cx="1251585" cy="657225"/>
          </a:xfrm>
        </p:grpSpPr>
        <p:sp>
          <p:nvSpPr>
            <p:cNvPr id="15" name="object 15"/>
            <p:cNvSpPr/>
            <p:nvPr/>
          </p:nvSpPr>
          <p:spPr>
            <a:xfrm>
              <a:off x="2996737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2996737" y="62406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0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0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object 17"/>
          <p:cNvSpPr txBox="1"/>
          <p:nvPr/>
        </p:nvSpPr>
        <p:spPr>
          <a:xfrm>
            <a:off x="3050400" y="440891"/>
            <a:ext cx="1135380" cy="756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85090">
              <a:lnSpc>
                <a:spcPct val="100000"/>
              </a:lnSpc>
              <a:spcBef>
                <a:spcPts val="95"/>
              </a:spcBef>
            </a:pPr>
            <a:r>
              <a:rPr sz="800" spc="-130" dirty="0">
                <a:solidFill>
                  <a:srgbClr val="154B33"/>
                </a:solidFill>
                <a:latin typeface="Arial Black"/>
                <a:cs typeface="Arial Black"/>
              </a:rPr>
              <a:t>Checks</a:t>
            </a:r>
            <a:r>
              <a:rPr sz="800" spc="4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105" dirty="0">
                <a:solidFill>
                  <a:srgbClr val="154B33"/>
                </a:solidFill>
                <a:latin typeface="Arial Black"/>
                <a:cs typeface="Arial Black"/>
              </a:rPr>
              <a:t>and</a:t>
            </a:r>
            <a:r>
              <a:rPr sz="800" spc="5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Arial Black"/>
                <a:cs typeface="Arial Black"/>
              </a:rPr>
              <a:t>outcome</a:t>
            </a:r>
            <a:endParaRPr sz="800">
              <a:latin typeface="Arial Black"/>
              <a:cs typeface="Arial Black"/>
            </a:endParaRPr>
          </a:p>
          <a:p>
            <a:pPr marL="12700" marR="5080" indent="82550">
              <a:lnSpc>
                <a:spcPct val="104600"/>
              </a:lnSpc>
              <a:spcBef>
                <a:spcPts val="78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Check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tank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pump.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25-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min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transfer:</a:t>
            </a:r>
            <a:r>
              <a:rPr sz="800" spc="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12:40.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Reject:</a:t>
            </a:r>
            <a:r>
              <a:rPr sz="800" spc="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meal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deadline.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Verify</a:t>
            </a:r>
            <a:r>
              <a:rPr sz="800" spc="-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peaks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and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service.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18" name="object 18"/>
          <p:cNvGrpSpPr/>
          <p:nvPr/>
        </p:nvGrpSpPr>
        <p:grpSpPr>
          <a:xfrm>
            <a:off x="364265" y="1368428"/>
            <a:ext cx="1251585" cy="657225"/>
            <a:chOff x="364265" y="1368428"/>
            <a:chExt cx="1251585" cy="657225"/>
          </a:xfrm>
        </p:grpSpPr>
        <p:sp>
          <p:nvSpPr>
            <p:cNvPr id="19" name="object 19"/>
            <p:cNvSpPr/>
            <p:nvPr/>
          </p:nvSpPr>
          <p:spPr>
            <a:xfrm>
              <a:off x="368710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368710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455460" y="1416950"/>
            <a:ext cx="1069340" cy="5295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00" dirty="0">
                <a:solidFill>
                  <a:srgbClr val="154B33"/>
                </a:solidFill>
                <a:latin typeface="Arial Black"/>
                <a:cs typeface="Arial Black"/>
              </a:rPr>
              <a:t>2.</a:t>
            </a:r>
            <a:r>
              <a:rPr sz="800" spc="4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70" dirty="0">
                <a:solidFill>
                  <a:srgbClr val="154B33"/>
                </a:solidFill>
                <a:latin typeface="Arial Black"/>
                <a:cs typeface="Arial Black"/>
              </a:rPr>
              <a:t>Water</a:t>
            </a:r>
            <a:r>
              <a:rPr sz="800" spc="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85" dirty="0">
                <a:solidFill>
                  <a:srgbClr val="154B33"/>
                </a:solidFill>
                <a:latin typeface="Arial Black"/>
                <a:cs typeface="Arial Black"/>
              </a:rPr>
              <a:t>discrepancy</a:t>
            </a:r>
            <a:endParaRPr sz="800">
              <a:latin typeface="Arial Black"/>
              <a:cs typeface="Arial Black"/>
            </a:endParaRPr>
          </a:p>
          <a:p>
            <a:pPr marL="92710" marR="80010" indent="-5080" algn="just">
              <a:lnSpc>
                <a:spcPct val="104600"/>
              </a:lnSpc>
            </a:pP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Inlet</a:t>
            </a:r>
            <a:r>
              <a:rPr sz="800" spc="-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20;</a:t>
            </a:r>
            <a:r>
              <a:rPr sz="800" spc="-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use</a:t>
            </a:r>
            <a:r>
              <a:rPr sz="800" spc="-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14</a:t>
            </a:r>
            <a:r>
              <a:rPr sz="800" spc="-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m</a:t>
            </a:r>
            <a:r>
              <a:rPr sz="900" spc="-37" baseline="27777" dirty="0">
                <a:solidFill>
                  <a:srgbClr val="154B33"/>
                </a:solidFill>
                <a:latin typeface="Tahoma"/>
                <a:cs typeface="Tahoma"/>
              </a:rPr>
              <a:t>3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Storage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rises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5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m</a:t>
            </a:r>
            <a:r>
              <a:rPr sz="900" spc="-37" baseline="27777" dirty="0">
                <a:solidFill>
                  <a:srgbClr val="154B33"/>
                </a:solidFill>
                <a:latin typeface="Tahoma"/>
                <a:cs typeface="Tahoma"/>
              </a:rPr>
              <a:t>3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Unexplained:</a:t>
            </a:r>
            <a:r>
              <a:rPr sz="800" spc="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10" dirty="0">
                <a:solidFill>
                  <a:srgbClr val="154B33"/>
                </a:solidFill>
                <a:latin typeface="Arial Black"/>
                <a:cs typeface="Arial Black"/>
              </a:rPr>
              <a:t>1</a:t>
            </a:r>
            <a:r>
              <a:rPr sz="800" spc="1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25" dirty="0">
                <a:solidFill>
                  <a:srgbClr val="154B33"/>
                </a:solidFill>
                <a:latin typeface="Arial Black"/>
                <a:cs typeface="Arial Black"/>
              </a:rPr>
              <a:t>m</a:t>
            </a:r>
            <a:r>
              <a:rPr sz="900" spc="-37" baseline="27777" dirty="0">
                <a:solidFill>
                  <a:srgbClr val="154B33"/>
                </a:solidFill>
                <a:latin typeface="Tahoma"/>
                <a:cs typeface="Tahoma"/>
              </a:rPr>
              <a:t>3</a:t>
            </a:r>
            <a:r>
              <a:rPr sz="800" spc="-25" dirty="0">
                <a:solidFill>
                  <a:srgbClr val="154B33"/>
                </a:solidFill>
                <a:latin typeface="Tahoma"/>
                <a:cs typeface="Tahoma"/>
              </a:rPr>
              <a:t>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1678279" y="1368428"/>
            <a:ext cx="1251585" cy="657225"/>
            <a:chOff x="1678279" y="1368428"/>
            <a:chExt cx="1251585" cy="657225"/>
          </a:xfrm>
        </p:grpSpPr>
        <p:sp>
          <p:nvSpPr>
            <p:cNvPr id="23" name="object 23"/>
            <p:cNvSpPr/>
            <p:nvPr/>
          </p:nvSpPr>
          <p:spPr>
            <a:xfrm>
              <a:off x="1682724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4" name="object 24"/>
            <p:cNvSpPr/>
            <p:nvPr/>
          </p:nvSpPr>
          <p:spPr>
            <a:xfrm>
              <a:off x="1682724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5" name="object 25"/>
          <p:cNvSpPr txBox="1"/>
          <p:nvPr/>
        </p:nvSpPr>
        <p:spPr>
          <a:xfrm>
            <a:off x="1754035" y="1416950"/>
            <a:ext cx="1099820" cy="529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635" algn="ctr">
              <a:lnSpc>
                <a:spcPct val="104600"/>
              </a:lnSpc>
              <a:spcBef>
                <a:spcPts val="50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Check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data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FFFFFF"/>
                </a:solidFill>
                <a:latin typeface="Tahoma"/>
                <a:cs typeface="Tahoma"/>
              </a:rPr>
              <a:t>+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meters. Inspect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suspect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branch.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Repair</a:t>
            </a:r>
            <a:r>
              <a:rPr sz="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confirmed</a:t>
            </a:r>
            <a:r>
              <a:rPr sz="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faults.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Residual</a:t>
            </a:r>
            <a:r>
              <a:rPr sz="8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i="1" dirty="0">
                <a:solidFill>
                  <a:srgbClr val="FFFFFF"/>
                </a:solidFill>
                <a:latin typeface="Arial"/>
                <a:cs typeface="Arial"/>
              </a:rPr>
              <a:t≯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=</a:t>
            </a:r>
            <a:r>
              <a:rPr sz="8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proven</a:t>
            </a:r>
            <a:r>
              <a:rPr sz="800" spc="1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leak.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49" name="object 49"/>
          <p:cNvGrpSpPr/>
          <p:nvPr/>
        </p:nvGrpSpPr>
        <p:grpSpPr>
          <a:xfrm>
            <a:off x="1615682" y="1678884"/>
            <a:ext cx="1367790" cy="36195"/>
            <a:chOff x="1615682" y="1678884"/>
            <a:chExt cx="1367790" cy="36195"/>
          </a:xfrm>
        </p:grpSpPr>
        <p:sp>
          <p:nvSpPr>
            <p:cNvPr id="50" name="object 50"/>
            <p:cNvSpPr/>
            <p:nvPr/>
          </p:nvSpPr>
          <p:spPr>
            <a:xfrm>
              <a:off x="1615682" y="169687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1" name="object 51"/>
            <p:cNvSpPr/>
            <p:nvPr/>
          </p:nvSpPr>
          <p:spPr>
            <a:xfrm>
              <a:off x="1629836" y="168394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2" name="object 52"/>
            <p:cNvSpPr/>
            <p:nvPr/>
          </p:nvSpPr>
          <p:spPr>
            <a:xfrm>
              <a:off x="1629836" y="168394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53"/>
            <p:cNvSpPr/>
            <p:nvPr/>
          </p:nvSpPr>
          <p:spPr>
            <a:xfrm>
              <a:off x="2929695" y="169687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4" name="object 54"/>
            <p:cNvSpPr/>
            <p:nvPr/>
          </p:nvSpPr>
          <p:spPr>
            <a:xfrm>
              <a:off x="2943850" y="168394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5" name="object 55"/>
            <p:cNvSpPr/>
            <p:nvPr/>
          </p:nvSpPr>
          <p:spPr>
            <a:xfrm>
              <a:off x="2943850" y="168394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6" name="object 26"/>
          <p:cNvGrpSpPr/>
          <p:nvPr/>
        </p:nvGrpSpPr>
        <p:grpSpPr>
          <a:xfrm>
            <a:off x="2992292" y="1368428"/>
            <a:ext cx="1251585" cy="657225"/>
            <a:chOff x="2992292" y="1368428"/>
            <a:chExt cx="1251585" cy="657225"/>
          </a:xfrm>
        </p:grpSpPr>
        <p:sp>
          <p:nvSpPr>
            <p:cNvPr id="27" name="object 27"/>
            <p:cNvSpPr/>
            <p:nvPr/>
          </p:nvSpPr>
          <p:spPr>
            <a:xfrm>
              <a:off x="2996737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2996737" y="137287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3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3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9" name="object 29"/>
          <p:cNvSpPr txBox="1"/>
          <p:nvPr/>
        </p:nvSpPr>
        <p:spPr>
          <a:xfrm>
            <a:off x="3080562" y="1416950"/>
            <a:ext cx="1075690" cy="529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indent="-1270" algn="ctr">
              <a:lnSpc>
                <a:spcPct val="104600"/>
              </a:lnSpc>
              <a:spcBef>
                <a:spcPts val="5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Maintain</a:t>
            </a:r>
            <a:r>
              <a:rPr sz="800" spc="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water</a:t>
            </a:r>
            <a:r>
              <a:rPr sz="800" spc="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supply.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Compare</a:t>
            </a:r>
            <a:r>
              <a:rPr sz="800" spc="-4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water</a:t>
            </a:r>
            <a:r>
              <a:rPr sz="800" spc="-4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balance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over</a:t>
            </a:r>
            <a:r>
              <a:rPr sz="800" spc="-6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matched</a:t>
            </a:r>
            <a:r>
              <a:rPr sz="800" spc="-6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periods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after the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repair.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0" name="object 30"/>
          <p:cNvGrpSpPr/>
          <p:nvPr/>
        </p:nvGrpSpPr>
        <p:grpSpPr>
          <a:xfrm>
            <a:off x="364265" y="2087755"/>
            <a:ext cx="1251585" cy="716280"/>
            <a:chOff x="364265" y="2087755"/>
            <a:chExt cx="1251585" cy="716280"/>
          </a:xfrm>
        </p:grpSpPr>
        <p:sp>
          <p:nvSpPr>
            <p:cNvPr id="31" name="object 31"/>
            <p:cNvSpPr/>
            <p:nvPr/>
          </p:nvSpPr>
          <p:spPr>
            <a:xfrm>
              <a:off x="368710" y="2092200"/>
              <a:ext cx="1242695" cy="707390"/>
            </a:xfrm>
            <a:custGeom>
              <a:avLst/>
              <a:gdLst/>
              <a:ahLst/>
              <a:cxnLst/>
              <a:rect l="l" t="t" r="r" b="b"/>
              <a:pathLst>
                <a:path w="1242695" h="707389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69017"/>
                  </a:lnTo>
                  <a:lnTo>
                    <a:pt x="2982" y="683792"/>
                  </a:lnTo>
                  <a:lnTo>
                    <a:pt x="11117" y="695858"/>
                  </a:lnTo>
                  <a:lnTo>
                    <a:pt x="23183" y="703992"/>
                  </a:lnTo>
                  <a:lnTo>
                    <a:pt x="37958" y="706975"/>
                  </a:lnTo>
                  <a:lnTo>
                    <a:pt x="1204585" y="706975"/>
                  </a:lnTo>
                  <a:lnTo>
                    <a:pt x="1219360" y="703992"/>
                  </a:lnTo>
                  <a:lnTo>
                    <a:pt x="1231426" y="695858"/>
                  </a:lnTo>
                  <a:lnTo>
                    <a:pt x="1239560" y="683792"/>
                  </a:lnTo>
                  <a:lnTo>
                    <a:pt x="1242543" y="669017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2" name="object 32"/>
            <p:cNvSpPr/>
            <p:nvPr/>
          </p:nvSpPr>
          <p:spPr>
            <a:xfrm>
              <a:off x="368710" y="2092200"/>
              <a:ext cx="1242695" cy="707390"/>
            </a:xfrm>
            <a:custGeom>
              <a:avLst/>
              <a:gdLst/>
              <a:ahLst/>
              <a:cxnLst/>
              <a:rect l="l" t="t" r="r" b="b"/>
              <a:pathLst>
                <a:path w="1242695" h="707389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69017"/>
                  </a:lnTo>
                  <a:lnTo>
                    <a:pt x="2982" y="683792"/>
                  </a:lnTo>
                  <a:lnTo>
                    <a:pt x="11117" y="695858"/>
                  </a:lnTo>
                  <a:lnTo>
                    <a:pt x="23183" y="703992"/>
                  </a:lnTo>
                  <a:lnTo>
                    <a:pt x="37958" y="706975"/>
                  </a:lnTo>
                  <a:lnTo>
                    <a:pt x="1204585" y="706975"/>
                  </a:lnTo>
                  <a:lnTo>
                    <a:pt x="1219360" y="703992"/>
                  </a:lnTo>
                  <a:lnTo>
                    <a:pt x="1231426" y="695858"/>
                  </a:lnTo>
                  <a:lnTo>
                    <a:pt x="1239560" y="683792"/>
                  </a:lnTo>
                  <a:lnTo>
                    <a:pt x="1242543" y="669017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3" name="object 33"/>
          <p:cNvSpPr txBox="1"/>
          <p:nvPr/>
        </p:nvSpPr>
        <p:spPr>
          <a:xfrm>
            <a:off x="456298" y="2105723"/>
            <a:ext cx="1067435" cy="663575"/>
          </a:xfrm>
          <a:prstGeom prst="rect">
            <a:avLst/>
          </a:prstGeom>
        </p:spPr>
        <p:txBody>
          <a:bodyPr vert="horz" wrap="square" lIns="0" tIns="18415" rIns="0" bIns="0" rtlCol="0">
            <a:spAutoFit/>
          </a:bodyPr>
          <a:lstStyle/>
          <a:p>
            <a:pPr marL="49530">
              <a:lnSpc>
                <a:spcPct val="100000"/>
              </a:lnSpc>
              <a:spcBef>
                <a:spcPts val="145"/>
              </a:spcBef>
            </a:pPr>
            <a:r>
              <a:rPr sz="800" dirty="0">
                <a:solidFill>
                  <a:srgbClr val="154B33"/>
                </a:solidFill>
                <a:latin typeface="Arial Black"/>
                <a:cs typeface="Arial Black"/>
              </a:rPr>
              <a:t>3.</a:t>
            </a:r>
            <a:r>
              <a:rPr sz="800" spc="8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90" dirty="0">
                <a:solidFill>
                  <a:srgbClr val="154B33"/>
                </a:solidFill>
                <a:latin typeface="Arial Black"/>
                <a:cs typeface="Arial Black"/>
              </a:rPr>
              <a:t>Timetable</a:t>
            </a:r>
            <a:r>
              <a:rPr sz="800" spc="1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800" spc="-55" dirty="0">
                <a:solidFill>
                  <a:srgbClr val="154B33"/>
                </a:solidFill>
                <a:latin typeface="Arial Black"/>
                <a:cs typeface="Arial Black"/>
              </a:rPr>
              <a:t>change</a:t>
            </a:r>
            <a:endParaRPr sz="800">
              <a:latin typeface="Arial Black"/>
              <a:cs typeface="Arial Black"/>
            </a:endParaRPr>
          </a:p>
          <a:p>
            <a:pPr marL="217170">
              <a:lnSpc>
                <a:spcPct val="100000"/>
              </a:lnSpc>
              <a:spcBef>
                <a:spcPts val="45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60</a:t>
            </a:r>
            <a:r>
              <a:rPr sz="8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authorised;</a:t>
            </a:r>
            <a:endParaRPr sz="800">
              <a:latin typeface="Tahoma"/>
              <a:cs typeface="Tahoma"/>
            </a:endParaRPr>
          </a:p>
          <a:p>
            <a:pPr marL="273050">
              <a:lnSpc>
                <a:spcPct val="100000"/>
              </a:lnSpc>
              <a:spcBef>
                <a:spcPts val="4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42</a:t>
            </a:r>
            <a:r>
              <a:rPr sz="8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forecast.</a:t>
            </a:r>
            <a:endParaRPr sz="800">
              <a:latin typeface="Tahoma"/>
              <a:cs typeface="Tahoma"/>
            </a:endParaRPr>
          </a:p>
          <a:p>
            <a:pPr marL="12700" marR="5080" indent="89535">
              <a:lnSpc>
                <a:spcPct val="104600"/>
              </a:lnSpc>
            </a:pP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14:00</a:t>
            </a:r>
            <a:r>
              <a:rPr sz="800" spc="-4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unconfirmed. </a:t>
            </a:r>
            <a:r>
              <a:rPr sz="800" spc="-30" dirty="0">
                <a:solidFill>
                  <a:srgbClr val="154B33"/>
                </a:solidFill>
                <a:latin typeface="Tahoma"/>
                <a:cs typeface="Tahoma"/>
              </a:rPr>
              <a:t>65-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seat</a:t>
            </a:r>
            <a:r>
              <a:rPr sz="8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room</a:t>
            </a:r>
            <a:r>
              <a:rPr sz="800" spc="-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available.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1678279" y="2117238"/>
            <a:ext cx="1251585" cy="657225"/>
            <a:chOff x="1678279" y="2117238"/>
            <a:chExt cx="1251585" cy="657225"/>
          </a:xfrm>
        </p:grpSpPr>
        <p:sp>
          <p:nvSpPr>
            <p:cNvPr id="35" name="object 35"/>
            <p:cNvSpPr/>
            <p:nvPr/>
          </p:nvSpPr>
          <p:spPr>
            <a:xfrm>
              <a:off x="1682724" y="212168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6" name="object 36"/>
            <p:cNvSpPr/>
            <p:nvPr/>
          </p:nvSpPr>
          <p:spPr>
            <a:xfrm>
              <a:off x="1682724" y="212168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5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5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7" name="object 37"/>
          <p:cNvSpPr txBox="1"/>
          <p:nvPr/>
        </p:nvSpPr>
        <p:spPr>
          <a:xfrm>
            <a:off x="1839125" y="2165742"/>
            <a:ext cx="929640" cy="529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81280" marR="40005" indent="-33655">
              <a:lnSpc>
                <a:spcPct val="104600"/>
              </a:lnSpc>
              <a:spcBef>
                <a:spcPts val="50"/>
              </a:spcBef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Confirm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 new</a:t>
            </a:r>
            <a:r>
              <a:rPr sz="800" spc="-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time.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65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seats:</a:t>
            </a:r>
            <a:r>
              <a:rPr sz="8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accept.</a:t>
            </a:r>
            <a:endParaRPr sz="800">
              <a:latin typeface="Tahoma"/>
              <a:cs typeface="Tahoma"/>
            </a:endParaRPr>
          </a:p>
          <a:p>
            <a:pPr marL="12700" marR="5080" indent="89535">
              <a:lnSpc>
                <a:spcPct val="104600"/>
              </a:lnSpc>
            </a:pP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45</a:t>
            </a:r>
            <a:r>
              <a:rPr sz="800" spc="-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seats:</a:t>
            </a:r>
            <a:r>
              <a:rPr sz="800" spc="8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FFFFFF"/>
                </a:solidFill>
                <a:latin typeface="Tahoma"/>
                <a:cs typeface="Tahoma"/>
              </a:rPr>
              <a:t>reject.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Align</a:t>
            </a:r>
            <a:r>
              <a:rPr sz="800" spc="30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FFFFFF"/>
                </a:solidFill>
                <a:latin typeface="Tahoma"/>
                <a:cs typeface="Tahoma"/>
              </a:rPr>
              <a:t>other</a:t>
            </a:r>
            <a:r>
              <a:rPr sz="800" spc="35" dirty="0">
                <a:solidFill>
                  <a:srgbClr val="FFFFFF"/>
                </a:solidFill>
                <a:latin typeface="Tahoma"/>
                <a:cs typeface="Tahoma"/>
              </a:rPr>
              <a:t> </a:t>
            </a:r>
            <a:r>
              <a:rPr sz="800" spc="-25" dirty="0">
                <a:solidFill>
                  <a:srgbClr val="FFFFFF"/>
                </a:solidFill>
                <a:latin typeface="Tahoma"/>
                <a:cs typeface="Tahoma"/>
              </a:rPr>
              <a:t>services.</a:t>
            </a:r>
            <a:endParaRPr sz="800">
              <a:latin typeface="Tahoma"/>
              <a:cs typeface="Tahoma"/>
            </a:endParaRPr>
          </a:p>
        </p:txBody>
      </p:sp>
      <p:grpSp>
        <p:nvGrpSpPr>
          <p:cNvPr id="56" name="object 56"/>
          <p:cNvGrpSpPr/>
          <p:nvPr/>
        </p:nvGrpSpPr>
        <p:grpSpPr>
          <a:xfrm>
            <a:off x="1615682" y="2427694"/>
            <a:ext cx="1367790" cy="36195"/>
            <a:chOff x="1615682" y="2427694"/>
            <a:chExt cx="1367790" cy="36195"/>
          </a:xfrm>
        </p:grpSpPr>
        <p:sp>
          <p:nvSpPr>
            <p:cNvPr id="57" name="object 57"/>
            <p:cNvSpPr/>
            <p:nvPr/>
          </p:nvSpPr>
          <p:spPr>
            <a:xfrm>
              <a:off x="1615682" y="244568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8" name="object 58"/>
            <p:cNvSpPr/>
            <p:nvPr/>
          </p:nvSpPr>
          <p:spPr>
            <a:xfrm>
              <a:off x="1629836" y="243275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59"/>
            <p:cNvSpPr/>
            <p:nvPr/>
          </p:nvSpPr>
          <p:spPr>
            <a:xfrm>
              <a:off x="1629836" y="243275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0" name="object 60"/>
            <p:cNvSpPr/>
            <p:nvPr/>
          </p:nvSpPr>
          <p:spPr>
            <a:xfrm>
              <a:off x="2929695" y="2445688"/>
              <a:ext cx="23495" cy="0"/>
            </a:xfrm>
            <a:custGeom>
              <a:avLst/>
              <a:gdLst/>
              <a:ahLst/>
              <a:cxnLst/>
              <a:rect l="l" t="t" r="r" b="b"/>
              <a:pathLst>
                <a:path w="23494">
                  <a:moveTo>
                    <a:pt x="0" y="0"/>
                  </a:moveTo>
                  <a:lnTo>
                    <a:pt x="23039" y="0"/>
                  </a:lnTo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1" name="object 61"/>
            <p:cNvSpPr/>
            <p:nvPr/>
          </p:nvSpPr>
          <p:spPr>
            <a:xfrm>
              <a:off x="2943850" y="243275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0" y="0"/>
                  </a:move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62"/>
            <p:cNvSpPr/>
            <p:nvPr/>
          </p:nvSpPr>
          <p:spPr>
            <a:xfrm>
              <a:off x="2943850" y="2432755"/>
              <a:ext cx="34290" cy="26034"/>
            </a:xfrm>
            <a:custGeom>
              <a:avLst/>
              <a:gdLst/>
              <a:ahLst/>
              <a:cxnLst/>
              <a:rect l="l" t="t" r="r" b="b"/>
              <a:pathLst>
                <a:path w="34289" h="26035">
                  <a:moveTo>
                    <a:pt x="34045" y="12932"/>
                  </a:moveTo>
                  <a:lnTo>
                    <a:pt x="0" y="0"/>
                  </a:lnTo>
                  <a:lnTo>
                    <a:pt x="11415" y="12932"/>
                  </a:lnTo>
                  <a:lnTo>
                    <a:pt x="0" y="25865"/>
                  </a:lnTo>
                  <a:lnTo>
                    <a:pt x="34045" y="12932"/>
                  </a:lnTo>
                  <a:close/>
                </a:path>
              </a:pathLst>
            </a:custGeom>
            <a:ln w="10122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2992292" y="2117238"/>
            <a:ext cx="1251585" cy="657225"/>
            <a:chOff x="2992292" y="2117238"/>
            <a:chExt cx="1251585" cy="657225"/>
          </a:xfrm>
        </p:grpSpPr>
        <p:sp>
          <p:nvSpPr>
            <p:cNvPr id="39" name="object 39"/>
            <p:cNvSpPr/>
            <p:nvPr/>
          </p:nvSpPr>
          <p:spPr>
            <a:xfrm>
              <a:off x="2996737" y="212168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solidFill>
              <a:srgbClr val="E0F1E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0" name="object 40"/>
            <p:cNvSpPr/>
            <p:nvPr/>
          </p:nvSpPr>
          <p:spPr>
            <a:xfrm>
              <a:off x="2996737" y="2121683"/>
              <a:ext cx="1242695" cy="648335"/>
            </a:xfrm>
            <a:custGeom>
              <a:avLst/>
              <a:gdLst/>
              <a:ahLst/>
              <a:cxnLst/>
              <a:rect l="l" t="t" r="r" b="b"/>
              <a:pathLst>
                <a:path w="1242695" h="648335">
                  <a:moveTo>
                    <a:pt x="1204585" y="0"/>
                  </a:moveTo>
                  <a:lnTo>
                    <a:pt x="37958" y="0"/>
                  </a:lnTo>
                  <a:lnTo>
                    <a:pt x="23183" y="2982"/>
                  </a:lnTo>
                  <a:lnTo>
                    <a:pt x="11117" y="11117"/>
                  </a:lnTo>
                  <a:lnTo>
                    <a:pt x="2982" y="23182"/>
                  </a:lnTo>
                  <a:lnTo>
                    <a:pt x="0" y="37958"/>
                  </a:lnTo>
                  <a:lnTo>
                    <a:pt x="0" y="610051"/>
                  </a:lnTo>
                  <a:lnTo>
                    <a:pt x="2982" y="624826"/>
                  </a:lnTo>
                  <a:lnTo>
                    <a:pt x="11117" y="636891"/>
                  </a:lnTo>
                  <a:lnTo>
                    <a:pt x="23183" y="645026"/>
                  </a:lnTo>
                  <a:lnTo>
                    <a:pt x="37958" y="648009"/>
                  </a:lnTo>
                  <a:lnTo>
                    <a:pt x="1204585" y="648009"/>
                  </a:lnTo>
                  <a:lnTo>
                    <a:pt x="1219360" y="645026"/>
                  </a:lnTo>
                  <a:lnTo>
                    <a:pt x="1231426" y="636891"/>
                  </a:lnTo>
                  <a:lnTo>
                    <a:pt x="1239560" y="624826"/>
                  </a:lnTo>
                  <a:lnTo>
                    <a:pt x="1242543" y="610051"/>
                  </a:lnTo>
                  <a:lnTo>
                    <a:pt x="1242543" y="37958"/>
                  </a:lnTo>
                  <a:lnTo>
                    <a:pt x="1239560" y="23182"/>
                  </a:lnTo>
                  <a:lnTo>
                    <a:pt x="1231426" y="11117"/>
                  </a:lnTo>
                  <a:lnTo>
                    <a:pt x="1219360" y="2982"/>
                  </a:lnTo>
                  <a:lnTo>
                    <a:pt x="1204585" y="0"/>
                  </a:lnTo>
                  <a:close/>
                </a:path>
              </a:pathLst>
            </a:custGeom>
            <a:ln w="8856">
              <a:solidFill>
                <a:srgbClr val="22684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1" name="object 41"/>
          <p:cNvSpPr txBox="1"/>
          <p:nvPr/>
        </p:nvSpPr>
        <p:spPr>
          <a:xfrm>
            <a:off x="3074416" y="2165742"/>
            <a:ext cx="1087120" cy="529590"/>
          </a:xfrm>
          <a:prstGeom prst="rect">
            <a:avLst/>
          </a:prstGeom>
        </p:spPr>
        <p:txBody>
          <a:bodyPr vert="horz" wrap="square" lIns="0" tIns="6350" rIns="0" bIns="0" rtlCol="0">
            <a:spAutoFit/>
          </a:bodyPr>
          <a:lstStyle/>
          <a:p>
            <a:pPr marL="12700" marR="5080" algn="ctr">
              <a:lnSpc>
                <a:spcPct val="104600"/>
              </a:lnSpc>
              <a:spcBef>
                <a:spcPts val="50"/>
              </a:spcBef>
            </a:pP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Check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room</a:t>
            </a:r>
            <a:r>
              <a:rPr sz="800" spc="2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70" dirty="0">
                <a:solidFill>
                  <a:srgbClr val="154B33"/>
                </a:solidFill>
                <a:latin typeface="Tahoma"/>
                <a:cs typeface="Tahoma"/>
              </a:rPr>
              <a:t>+</a:t>
            </a:r>
            <a:r>
              <a:rPr sz="800" spc="2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capacity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and</a:t>
            </a:r>
            <a:r>
              <a:rPr sz="800" spc="-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service</a:t>
            </a:r>
            <a:r>
              <a:rPr sz="800" spc="-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deadlines.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No</a:t>
            </a:r>
            <a:r>
              <a:rPr sz="800" spc="6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confirmation:</a:t>
            </a:r>
            <a:endParaRPr sz="800">
              <a:latin typeface="Tahoma"/>
              <a:cs typeface="Tahoma"/>
            </a:endParaRPr>
          </a:p>
          <a:p>
            <a:pPr algn="ctr">
              <a:lnSpc>
                <a:spcPct val="100000"/>
              </a:lnSpc>
              <a:spcBef>
                <a:spcPts val="45"/>
              </a:spcBef>
            </a:pPr>
            <a:r>
              <a:rPr sz="800" spc="-20" dirty="0">
                <a:solidFill>
                  <a:srgbClr val="154B33"/>
                </a:solidFill>
                <a:latin typeface="Tahoma"/>
                <a:cs typeface="Tahoma"/>
              </a:rPr>
              <a:t>keep</a:t>
            </a:r>
            <a:r>
              <a:rPr sz="800" spc="-1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the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800" dirty="0">
                <a:solidFill>
                  <a:srgbClr val="154B33"/>
                </a:solidFill>
                <a:latin typeface="Tahoma"/>
                <a:cs typeface="Tahoma"/>
              </a:rPr>
              <a:t>current</a:t>
            </a:r>
            <a:r>
              <a:rPr sz="800" spc="-10" dirty="0">
                <a:solidFill>
                  <a:srgbClr val="154B33"/>
                </a:solidFill>
                <a:latin typeface="Tahoma"/>
                <a:cs typeface="Tahoma"/>
              </a:rPr>
              <a:t> plan.</a:t>
            </a:r>
            <a:endParaRPr sz="800">
              <a:latin typeface="Tahoma"/>
              <a:cs typeface="Tahoma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285902" y="2919905"/>
            <a:ext cx="3848735" cy="2578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 marR="30480">
              <a:lnSpc>
                <a:spcPct val="117300"/>
              </a:lnSpc>
              <a:spcBef>
                <a:spcPts val="90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Illustrative.</a:t>
            </a:r>
            <a:r>
              <a:rPr sz="650" spc="1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Case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1:</a:t>
            </a:r>
            <a:r>
              <a:rPr sz="650" spc="1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one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electrical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boundary;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all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guests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at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meals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by</a:t>
            </a:r>
            <a:r>
              <a:rPr sz="650" spc="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12:30.</a:t>
            </a:r>
            <a:r>
              <a:rPr sz="650" spc="18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Water:</a:t>
            </a:r>
            <a:r>
              <a:rPr sz="650" spc="18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40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m</a:t>
            </a:r>
            <a:r>
              <a:rPr sz="675" baseline="37037" dirty="0">
                <a:solidFill>
                  <a:srgbClr val="154B33"/>
                </a:solidFill>
                <a:latin typeface="Tahoma"/>
                <a:cs typeface="Tahoma"/>
              </a:rPr>
              <a:t>3</a:t>
            </a:r>
            <a:r>
              <a:rPr sz="675" spc="307" baseline="37037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after</a:t>
            </a:r>
            <a:r>
              <a:rPr sz="650" spc="5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pumping,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upper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demand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24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until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next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feasible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refill,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reserve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10.</a:t>
            </a:r>
            <a:r>
              <a:rPr sz="650" spc="1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Verify</a:t>
            </a:r>
            <a:r>
              <a:rPr sz="650" spc="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total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kWh:</a:t>
            </a:r>
            <a:r>
              <a:rPr sz="650" spc="19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shifting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</a:t>
            </a:r>
            <a:r>
              <a:rPr sz="650" spc="10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20" dirty="0">
                <a:solidFill>
                  <a:srgbClr val="154B33"/>
                </a:solidFill>
                <a:latin typeface="Tahoma"/>
                <a:cs typeface="Tahoma"/>
              </a:rPr>
              <a:t>peak</a:t>
            </a:r>
            <a:endParaRPr sz="650">
              <a:latin typeface="Tahoma"/>
              <a:cs typeface="Tahoma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 txBox="1"/>
          <p:nvPr/>
        </p:nvSpPr>
        <p:spPr>
          <a:xfrm>
            <a:off x="311302" y="3150288"/>
            <a:ext cx="1176020" cy="29972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240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alone</a:t>
            </a:r>
            <a:r>
              <a:rPr sz="650" spc="6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is</a:t>
            </a:r>
            <a:r>
              <a:rPr sz="650" spc="6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not</a:t>
            </a:r>
            <a:r>
              <a:rPr sz="650" spc="6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an</a:t>
            </a:r>
            <a:r>
              <a:rPr sz="650" spc="6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energy</a:t>
            </a:r>
            <a:r>
              <a:rPr sz="650" spc="5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</a:rPr>
              <a:t>saving.</a:t>
            </a:r>
            <a:endParaRPr sz="65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90"/>
              </a:spcBef>
            </a:pPr>
            <a:r>
              <a:rPr sz="500" spc="-35" dirty="0">
                <a:solidFill>
                  <a:srgbClr val="154B33"/>
                </a:solidFill>
                <a:latin typeface="Arial Black"/>
                <a:cs typeface="Arial Black"/>
              </a:rPr>
              <a:t>Not</a:t>
            </a:r>
            <a:r>
              <a:rPr sz="500" spc="2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500" spc="-65" dirty="0">
                <a:solidFill>
                  <a:srgbClr val="154B33"/>
                </a:solidFill>
                <a:latin typeface="Arial Black"/>
                <a:cs typeface="Arial Black"/>
              </a:rPr>
              <a:t>supplied</a:t>
            </a:r>
            <a:r>
              <a:rPr sz="500" spc="2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500" dirty="0">
                <a:solidFill>
                  <a:srgbClr val="154B33"/>
                </a:solidFill>
                <a:latin typeface="Arial Black"/>
                <a:cs typeface="Arial Black"/>
              </a:rPr>
              <a:t>|</a:t>
            </a:r>
            <a:r>
              <a:rPr sz="500" spc="2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500" spc="-35" dirty="0">
                <a:solidFill>
                  <a:srgbClr val="154B33"/>
                </a:solidFill>
                <a:latin typeface="Arial Black"/>
                <a:cs typeface="Arial Black"/>
              </a:rPr>
              <a:t>Not</a:t>
            </a:r>
            <a:r>
              <a:rPr sz="500" spc="2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500" spc="-10" dirty="0">
                <a:solidFill>
                  <a:srgbClr val="154B33"/>
                </a:solidFill>
                <a:latin typeface="Arial Black"/>
                <a:cs typeface="Arial Black"/>
              </a:rPr>
              <a:t>supplied</a:t>
            </a:r>
            <a:endParaRPr sz="500">
              <a:latin typeface="Arial Black"/>
              <a:cs typeface="Arial Black"/>
            </a:endParaRPr>
          </a:p>
        </p:txBody>
      </p:sp>
      <p:sp>
        <p:nvSpPr>
          <p:cNvPr id="66" name="object 66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137033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50" dirty="0">
                <a:latin typeface="Arial Black"/>
                <a:cs typeface="Arial Black"/>
              </a:rPr>
              <a:t>Impacts</a:t>
            </a:r>
            <a:r>
              <a:rPr sz="1100" spc="60" dirty="0">
                <a:latin typeface="Arial Black"/>
                <a:cs typeface="Arial Black"/>
              </a:rPr>
              <a:t> </a:t>
            </a:r>
            <a:r>
              <a:rPr sz="1100" spc="-150" dirty="0">
                <a:latin typeface="Arial Black"/>
                <a:cs typeface="Arial Black"/>
              </a:rPr>
              <a:t>and</a:t>
            </a:r>
            <a:r>
              <a:rPr sz="1100" spc="65" dirty="0">
                <a:latin typeface="Arial Black"/>
                <a:cs typeface="Arial Black"/>
              </a:rPr>
              <a:t> </a:t>
            </a:r>
            <a:r>
              <a:rPr sz="1100" spc="-105" dirty="0">
                <a:latin typeface="Arial Black"/>
                <a:cs typeface="Arial Black"/>
              </a:rPr>
              <a:t>Benefits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485190" y="451243"/>
          <a:ext cx="3637280" cy="16891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966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406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L="5016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Expected</a:t>
                      </a:r>
                      <a:r>
                        <a:rPr sz="900" spc="8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benefit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Evidence</a:t>
                      </a:r>
                      <a:r>
                        <a:rPr sz="900" spc="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the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pilot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will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collect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50165" marR="457834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25" dirty="0">
                          <a:latin typeface="Arial"/>
                          <a:cs typeface="Arial"/>
                        </a:rPr>
                        <a:t>Lower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avoidable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resource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use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5303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Adjusted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kWh,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peak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kW,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water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volume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food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waste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meal.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 marL="50165" marR="19939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More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reliable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5" dirty="0">
                          <a:latin typeface="Arial"/>
                          <a:cs typeface="Arial"/>
                        </a:rPr>
                        <a:t>campus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services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4351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Capacity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conflicts,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water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5" dirty="0">
                          <a:latin typeface="Arial"/>
                          <a:cs typeface="Arial"/>
                        </a:rPr>
                        <a:t>reserves,</a:t>
                      </a:r>
                      <a:r>
                        <a:rPr sz="900" spc="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meal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shortages,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50" dirty="0">
                          <a:latin typeface="Arial"/>
                          <a:cs typeface="Arial"/>
                        </a:rPr>
                        <a:t>passenger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waits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and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late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arrivals.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50165" marR="34861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Better</a:t>
                      </a:r>
                      <a:r>
                        <a:rPr sz="900" spc="5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operational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decisions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6764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Useful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alerts,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staff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effort,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approved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actions, </a:t>
                      </a:r>
                      <a:r>
                        <a:rPr sz="900" spc="-30" dirty="0">
                          <a:latin typeface="Arial"/>
                          <a:cs typeface="Arial"/>
                        </a:rPr>
                        <a:t>completed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tasks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and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net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operating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benefit.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273189" y="2241740"/>
            <a:ext cx="3881754" cy="861060"/>
          </a:xfrm>
          <a:custGeom>
            <a:avLst/>
            <a:gdLst/>
            <a:ahLst/>
            <a:cxnLst/>
            <a:rect l="l" t="t" r="r" b="b"/>
            <a:pathLst>
              <a:path w="3881754" h="861060">
                <a:moveTo>
                  <a:pt x="3881666" y="44424"/>
                </a:moveTo>
                <a:lnTo>
                  <a:pt x="3880358" y="44424"/>
                </a:lnTo>
                <a:lnTo>
                  <a:pt x="3877653" y="31076"/>
                </a:lnTo>
                <a:lnTo>
                  <a:pt x="3866743" y="14922"/>
                </a:lnTo>
                <a:lnTo>
                  <a:pt x="3850589" y="4013"/>
                </a:lnTo>
                <a:lnTo>
                  <a:pt x="3830866" y="0"/>
                </a:lnTo>
                <a:lnTo>
                  <a:pt x="50812" y="0"/>
                </a:lnTo>
                <a:lnTo>
                  <a:pt x="31076" y="4013"/>
                </a:lnTo>
                <a:lnTo>
                  <a:pt x="14922" y="14922"/>
                </a:lnTo>
                <a:lnTo>
                  <a:pt x="4013" y="31076"/>
                </a:lnTo>
                <a:lnTo>
                  <a:pt x="1295" y="44424"/>
                </a:lnTo>
                <a:lnTo>
                  <a:pt x="0" y="44424"/>
                </a:lnTo>
                <a:lnTo>
                  <a:pt x="0" y="50800"/>
                </a:lnTo>
                <a:lnTo>
                  <a:pt x="0" y="82384"/>
                </a:lnTo>
                <a:lnTo>
                  <a:pt x="0" y="810094"/>
                </a:lnTo>
                <a:lnTo>
                  <a:pt x="4013" y="829830"/>
                </a:lnTo>
                <a:lnTo>
                  <a:pt x="14922" y="845985"/>
                </a:lnTo>
                <a:lnTo>
                  <a:pt x="31076" y="856894"/>
                </a:lnTo>
                <a:lnTo>
                  <a:pt x="50812" y="860907"/>
                </a:lnTo>
                <a:lnTo>
                  <a:pt x="3830866" y="860907"/>
                </a:lnTo>
                <a:lnTo>
                  <a:pt x="3850589" y="856894"/>
                </a:lnTo>
                <a:lnTo>
                  <a:pt x="3866743" y="845985"/>
                </a:lnTo>
                <a:lnTo>
                  <a:pt x="3877653" y="829830"/>
                </a:lnTo>
                <a:lnTo>
                  <a:pt x="3881666" y="810094"/>
                </a:lnTo>
                <a:lnTo>
                  <a:pt x="3881666" y="82384"/>
                </a:lnTo>
                <a:lnTo>
                  <a:pt x="3881666" y="50800"/>
                </a:lnTo>
                <a:lnTo>
                  <a:pt x="3881666" y="44424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311302" y="2335457"/>
            <a:ext cx="3611245" cy="958850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02235">
              <a:lnSpc>
                <a:spcPct val="100000"/>
              </a:lnSpc>
              <a:spcBef>
                <a:spcPts val="240"/>
              </a:spcBef>
            </a:pPr>
            <a:r>
              <a:rPr sz="900" spc="-125" dirty="0">
                <a:latin typeface="Arial Black"/>
                <a:cs typeface="Arial Black"/>
              </a:rPr>
              <a:t>How</a:t>
            </a:r>
            <a:r>
              <a:rPr sz="900" spc="35" dirty="0">
                <a:latin typeface="Arial Black"/>
                <a:cs typeface="Arial Black"/>
              </a:rPr>
              <a:t> </a:t>
            </a:r>
            <a:r>
              <a:rPr sz="900" spc="-190" dirty="0">
                <a:latin typeface="Arial Black"/>
                <a:cs typeface="Arial Black"/>
              </a:rPr>
              <a:t>we</a:t>
            </a:r>
            <a:r>
              <a:rPr sz="900" spc="40" dirty="0">
                <a:latin typeface="Arial Black"/>
                <a:cs typeface="Arial Black"/>
              </a:rPr>
              <a:t> </a:t>
            </a:r>
            <a:r>
              <a:rPr sz="900" spc="-100" dirty="0">
                <a:latin typeface="Arial Black"/>
                <a:cs typeface="Arial Black"/>
              </a:rPr>
              <a:t>test</a:t>
            </a:r>
            <a:r>
              <a:rPr sz="900" spc="35" dirty="0">
                <a:latin typeface="Arial Black"/>
                <a:cs typeface="Arial Black"/>
              </a:rPr>
              <a:t> </a:t>
            </a:r>
            <a:r>
              <a:rPr sz="900" spc="-100" dirty="0">
                <a:latin typeface="Arial Black"/>
                <a:cs typeface="Arial Black"/>
              </a:rPr>
              <a:t>the</a:t>
            </a:r>
            <a:r>
              <a:rPr sz="900" spc="40" dirty="0">
                <a:latin typeface="Arial Black"/>
                <a:cs typeface="Arial Black"/>
              </a:rPr>
              <a:t> </a:t>
            </a:r>
            <a:r>
              <a:rPr sz="900" spc="-10" dirty="0">
                <a:latin typeface="Arial Black"/>
                <a:cs typeface="Arial Black"/>
              </a:rPr>
              <a:t>innovation</a:t>
            </a:r>
            <a:endParaRPr sz="900">
              <a:latin typeface="Arial Black"/>
              <a:cs typeface="Arial Black"/>
            </a:endParaRPr>
          </a:p>
          <a:p>
            <a:pPr marL="102235" marR="5080">
              <a:lnSpc>
                <a:spcPct val="113100"/>
              </a:lnSpc>
            </a:pPr>
            <a:r>
              <a:rPr sz="900" spc="-40" dirty="0">
                <a:latin typeface="Arial"/>
                <a:cs typeface="Arial"/>
              </a:rPr>
              <a:t>Compare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current </a:t>
            </a:r>
            <a:r>
              <a:rPr sz="900" spc="-20" dirty="0">
                <a:latin typeface="Arial"/>
                <a:cs typeface="Arial"/>
              </a:rPr>
              <a:t>practice,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independent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modules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and</a:t>
            </a:r>
            <a:r>
              <a:rPr sz="900" dirty="0">
                <a:latin typeface="Arial"/>
                <a:cs typeface="Arial"/>
              </a:rPr>
              <a:t> the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45" dirty="0">
                <a:latin typeface="Arial"/>
                <a:cs typeface="Arial"/>
              </a:rPr>
              <a:t>shared</a:t>
            </a:r>
            <a:r>
              <a:rPr sz="900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planner </a:t>
            </a:r>
            <a:r>
              <a:rPr sz="900" dirty="0">
                <a:latin typeface="Arial"/>
                <a:cs typeface="Arial"/>
              </a:rPr>
              <a:t>on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equivalent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scenarios.</a:t>
            </a:r>
            <a:r>
              <a:rPr sz="900" spc="70" dirty="0">
                <a:latin typeface="Arial"/>
                <a:cs typeface="Arial"/>
              </a:rPr>
              <a:t> </a:t>
            </a:r>
            <a:r>
              <a:rPr sz="900" spc="-40" dirty="0">
                <a:latin typeface="Arial"/>
                <a:cs typeface="Arial"/>
              </a:rPr>
              <a:t>Record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net</a:t>
            </a:r>
            <a:r>
              <a:rPr sz="900" spc="-10" dirty="0">
                <a:latin typeface="Arial"/>
                <a:cs typeface="Arial"/>
              </a:rPr>
              <a:t> benefits and </a:t>
            </a:r>
            <a:r>
              <a:rPr sz="900" spc="-40" dirty="0">
                <a:latin typeface="Arial"/>
                <a:cs typeface="Arial"/>
              </a:rPr>
              <a:t>service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failures</a:t>
            </a:r>
            <a:r>
              <a:rPr sz="900" spc="-10" dirty="0">
                <a:latin typeface="Arial"/>
                <a:cs typeface="Arial"/>
              </a:rPr>
              <a:t> under </a:t>
            </a:r>
            <a:r>
              <a:rPr sz="900" spc="-30" dirty="0">
                <a:latin typeface="Arial"/>
                <a:cs typeface="Arial"/>
              </a:rPr>
              <a:t>one</a:t>
            </a:r>
            <a:r>
              <a:rPr sz="900" spc="-10" dirty="0">
                <a:latin typeface="Arial"/>
                <a:cs typeface="Arial"/>
              </a:rPr>
              <a:t> intervention </a:t>
            </a:r>
            <a:r>
              <a:rPr sz="900" dirty="0">
                <a:latin typeface="Arial"/>
                <a:cs typeface="Arial"/>
              </a:rPr>
              <a:t>ID.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30" dirty="0">
                <a:latin typeface="Arial"/>
                <a:cs typeface="Arial"/>
              </a:rPr>
              <a:t>Results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spc="-20" dirty="0">
                <a:latin typeface="Arial"/>
                <a:cs typeface="Arial"/>
              </a:rPr>
              <a:t>may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be</a:t>
            </a:r>
            <a:r>
              <a:rPr sz="900" spc="-5" dirty="0">
                <a:latin typeface="Arial"/>
                <a:cs typeface="Arial"/>
              </a:rPr>
              <a:t> </a:t>
            </a:r>
            <a:r>
              <a:rPr sz="900" spc="-10" dirty="0">
                <a:latin typeface="Arial"/>
                <a:cs typeface="Arial"/>
              </a:rPr>
              <a:t>positive, </a:t>
            </a:r>
            <a:r>
              <a:rPr sz="900" spc="-30" dirty="0">
                <a:latin typeface="Arial"/>
                <a:cs typeface="Arial"/>
              </a:rPr>
              <a:t>negative</a:t>
            </a:r>
            <a:r>
              <a:rPr sz="900" spc="-10" dirty="0">
                <a:latin typeface="Arial"/>
                <a:cs typeface="Arial"/>
              </a:rPr>
              <a:t> </a:t>
            </a:r>
            <a:r>
              <a:rPr sz="900" dirty="0">
                <a:latin typeface="Arial"/>
                <a:cs typeface="Arial"/>
              </a:rPr>
              <a:t>or</a:t>
            </a:r>
            <a:r>
              <a:rPr sz="900" spc="-10" dirty="0">
                <a:latin typeface="Arial"/>
                <a:cs typeface="Arial"/>
              </a:rPr>
              <a:t> inconclusive.</a:t>
            </a:r>
            <a:endParaRPr sz="9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635"/>
              </a:spcBef>
            </a:pPr>
            <a:endParaRPr sz="9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Proposed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outcomes.</a:t>
            </a:r>
            <a:r>
              <a:rPr sz="650" spc="229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Evaluation:</a:t>
            </a:r>
            <a:r>
              <a:rPr sz="650" spc="235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U.S.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spc="8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DOE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spc="6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FEMP,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Measurement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and</a:t>
            </a:r>
            <a:r>
              <a:rPr sz="650" spc="13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Verification.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311302" y="57555"/>
            <a:ext cx="255016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45" dirty="0">
                <a:latin typeface="Arial Black"/>
                <a:cs typeface="Arial Black"/>
              </a:rPr>
              <a:t>Sustainable</a:t>
            </a:r>
            <a:r>
              <a:rPr sz="1100" spc="100" dirty="0">
                <a:latin typeface="Arial Black"/>
                <a:cs typeface="Arial Black"/>
              </a:rPr>
              <a:t> </a:t>
            </a:r>
            <a:r>
              <a:rPr sz="1100" spc="-130" dirty="0">
                <a:latin typeface="Arial Black"/>
                <a:cs typeface="Arial Black"/>
              </a:rPr>
              <a:t>Development</a:t>
            </a:r>
            <a:r>
              <a:rPr sz="1100" spc="105" dirty="0">
                <a:latin typeface="Arial Black"/>
                <a:cs typeface="Arial Black"/>
              </a:rPr>
              <a:t> </a:t>
            </a:r>
            <a:r>
              <a:rPr sz="1100" spc="-155" dirty="0">
                <a:latin typeface="Arial Black"/>
                <a:cs typeface="Arial Black"/>
              </a:rPr>
              <a:t>Goals</a:t>
            </a:r>
            <a:r>
              <a:rPr sz="1100" spc="105" dirty="0">
                <a:latin typeface="Arial Black"/>
                <a:cs typeface="Arial Black"/>
              </a:rPr>
              <a:t> </a:t>
            </a:r>
            <a:r>
              <a:rPr sz="1100" spc="-40" dirty="0">
                <a:latin typeface="Arial Black"/>
                <a:cs typeface="Arial Black"/>
              </a:rPr>
              <a:t>(SDGs)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 txBox="1"/>
          <p:nvPr/>
        </p:nvSpPr>
        <p:spPr>
          <a:xfrm>
            <a:off x="311302" y="400337"/>
            <a:ext cx="263080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5" dirty="0">
                <a:latin typeface="Arial Black"/>
                <a:cs typeface="Arial Black"/>
              </a:rPr>
              <a:t>Intended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90" dirty="0">
                <a:latin typeface="Arial Black"/>
                <a:cs typeface="Arial Black"/>
              </a:rPr>
              <a:t>contribution</a:t>
            </a:r>
            <a:r>
              <a:rPr sz="900" spc="15" dirty="0">
                <a:latin typeface="Arial Black"/>
                <a:cs typeface="Arial Black"/>
              </a:rPr>
              <a:t> </a:t>
            </a:r>
            <a:r>
              <a:rPr sz="900" spc="-55" dirty="0">
                <a:latin typeface="Arial Black"/>
                <a:cs typeface="Arial Black"/>
              </a:rPr>
              <a:t>to</a:t>
            </a:r>
            <a:r>
              <a:rPr sz="900" spc="-5" dirty="0">
                <a:latin typeface="Arial Black"/>
                <a:cs typeface="Arial Black"/>
              </a:rPr>
              <a:t> </a:t>
            </a:r>
            <a:r>
              <a:rPr sz="900" spc="-125" dirty="0">
                <a:latin typeface="Arial Black"/>
                <a:cs typeface="Arial Black"/>
              </a:rPr>
              <a:t>specific</a:t>
            </a:r>
            <a:r>
              <a:rPr sz="900" spc="25" dirty="0">
                <a:latin typeface="Arial Black"/>
                <a:cs typeface="Arial Black"/>
              </a:rPr>
              <a:t> </a:t>
            </a:r>
            <a:r>
              <a:rPr sz="900" spc="-10" dirty="0">
                <a:latin typeface="Arial Black"/>
                <a:cs typeface="Arial Black"/>
              </a:rPr>
              <a:t>UN</a:t>
            </a:r>
            <a:r>
              <a:rPr sz="900" spc="15" dirty="0">
                <a:latin typeface="Arial Black"/>
                <a:cs typeface="Arial Black"/>
              </a:rPr>
              <a:t> </a:t>
            </a:r>
            <a:r>
              <a:rPr sz="900" spc="-45" dirty="0">
                <a:latin typeface="Arial Black"/>
                <a:cs typeface="Arial Black"/>
              </a:rPr>
              <a:t>SDG</a:t>
            </a:r>
            <a:r>
              <a:rPr sz="900" spc="15" dirty="0">
                <a:latin typeface="Arial Black"/>
                <a:cs typeface="Arial Black"/>
              </a:rPr>
              <a:t> </a:t>
            </a:r>
            <a:r>
              <a:rPr sz="900" spc="-85" dirty="0">
                <a:latin typeface="Arial Black"/>
                <a:cs typeface="Arial Black"/>
              </a:rPr>
              <a:t>targets</a:t>
            </a:r>
            <a:endParaRPr sz="900">
              <a:latin typeface="Arial Black"/>
              <a:cs typeface="Arial Black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324002" y="770661"/>
          <a:ext cx="3960493" cy="19989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4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264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9821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709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R="1270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Target</a:t>
                      </a:r>
                      <a:r>
                        <a:rPr sz="900" spc="5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Number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Goal</a:t>
                      </a:r>
                      <a:r>
                        <a:rPr sz="900" spc="4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Name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Connection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48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50" dirty="0">
                          <a:latin typeface="Arial Black"/>
                          <a:cs typeface="Arial Black"/>
                        </a:rPr>
                        <a:t>6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Target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6.4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0795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Clean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Water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Sanitation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8445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dirty="0">
                          <a:latin typeface="Arial"/>
                          <a:cs typeface="Arial"/>
                        </a:rPr>
                        <a:t>Track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60" dirty="0">
                          <a:latin typeface="Arial"/>
                          <a:cs typeface="Arial"/>
                        </a:rPr>
                        <a:t>losses</a:t>
                      </a:r>
                      <a:r>
                        <a:rPr sz="900" spc="-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protect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water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supply.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197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50" dirty="0">
                          <a:latin typeface="Arial Black"/>
                          <a:cs typeface="Arial Black"/>
                        </a:rPr>
                        <a:t>7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Target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7.3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215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marL="57785" marR="217170">
                        <a:lnSpc>
                          <a:spcPct val="113100"/>
                        </a:lnSpc>
                        <a:spcBef>
                          <a:spcPts val="5"/>
                        </a:spcBef>
                      </a:pPr>
                      <a:r>
                        <a:rPr sz="900" spc="-20" dirty="0">
                          <a:latin typeface="Arial"/>
                          <a:cs typeface="Arial"/>
                        </a:rPr>
                        <a:t>Affordable</a:t>
                      </a:r>
                      <a:r>
                        <a:rPr sz="900" spc="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Clean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Energy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27305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9906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50" dirty="0">
                          <a:latin typeface="Arial"/>
                          <a:cs typeface="Arial"/>
                        </a:rPr>
                        <a:t>Reduce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avoidable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kWh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dirty="0">
                          <a:latin typeface="Arial"/>
                          <a:cs typeface="Arial"/>
                        </a:rPr>
                        <a:t>per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comparable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activity.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121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45" dirty="0">
                          <a:latin typeface="Arial Black"/>
                          <a:cs typeface="Arial Black"/>
                        </a:rPr>
                        <a:t>SDG</a:t>
                      </a:r>
                      <a:r>
                        <a:rPr sz="900" spc="-30" dirty="0"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25" dirty="0">
                          <a:latin typeface="Arial Black"/>
                          <a:cs typeface="Arial Black"/>
                        </a:rPr>
                        <a:t>12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123189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969"/>
                        </a:spcBef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Target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0" dirty="0">
                          <a:latin typeface="Arial"/>
                          <a:cs typeface="Arial"/>
                        </a:rPr>
                        <a:t>12.3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123189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74930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10" dirty="0">
                          <a:latin typeface="Arial"/>
                          <a:cs typeface="Arial"/>
                        </a:rPr>
                        <a:t>Responsible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Consumption</a:t>
                      </a:r>
                      <a:r>
                        <a:rPr sz="9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and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Production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57785" marR="191135">
                        <a:lnSpc>
                          <a:spcPct val="113100"/>
                        </a:lnSpc>
                        <a:spcBef>
                          <a:spcPts val="640"/>
                        </a:spcBef>
                      </a:pPr>
                      <a:r>
                        <a:rPr sz="900" spc="-35" dirty="0">
                          <a:latin typeface="Arial"/>
                          <a:cs typeface="Arial"/>
                        </a:rPr>
                        <a:t>Forecast</a:t>
                      </a:r>
                      <a:r>
                        <a:rPr sz="900" spc="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meals. </a:t>
                      </a:r>
                      <a:r>
                        <a:rPr sz="900" spc="-40" dirty="0">
                          <a:latin typeface="Arial"/>
                          <a:cs typeface="Arial"/>
                        </a:rPr>
                        <a:t>Measure</a:t>
                      </a:r>
                      <a:r>
                        <a:rPr sz="900" spc="-15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35" dirty="0">
                          <a:latin typeface="Arial"/>
                          <a:cs typeface="Arial"/>
                        </a:rPr>
                        <a:t>waste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 </a:t>
                      </a:r>
                      <a:r>
                        <a:rPr sz="900" spc="-25" dirty="0">
                          <a:latin typeface="Arial"/>
                          <a:cs typeface="Arial"/>
                        </a:rPr>
                        <a:t>per </a:t>
                      </a:r>
                      <a:r>
                        <a:rPr sz="900" spc="-10" dirty="0">
                          <a:latin typeface="Arial"/>
                          <a:cs typeface="Arial"/>
                        </a:rPr>
                        <a:t>meal.</a:t>
                      </a:r>
                      <a:endParaRPr sz="900">
                        <a:latin typeface="Arial"/>
                        <a:cs typeface="Arial"/>
                      </a:endParaRPr>
                    </a:p>
                  </a:txBody>
                  <a:tcPr marL="0" marR="0" marT="81280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object 8"/>
          <p:cNvSpPr txBox="1"/>
          <p:nvPr/>
        </p:nvSpPr>
        <p:spPr>
          <a:xfrm>
            <a:off x="311302" y="2856265"/>
            <a:ext cx="3736340" cy="42608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6300"/>
              </a:lnSpc>
              <a:spcBef>
                <a:spcPts val="100"/>
              </a:spcBef>
            </a:pPr>
            <a:r>
              <a:rPr sz="700" dirty="0">
                <a:latin typeface="Tahoma"/>
                <a:cs typeface="Tahoma"/>
              </a:rPr>
              <a:t>Local</a:t>
            </a:r>
            <a:r>
              <a:rPr sz="700" spc="-10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project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indicators.</a:t>
            </a:r>
            <a:r>
              <a:rPr sz="700" spc="7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Energy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efficiency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requires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improved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energy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use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dirty="0">
                <a:latin typeface="Tahoma"/>
                <a:cs typeface="Tahoma"/>
              </a:rPr>
              <a:t>per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equivalent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service; </a:t>
            </a:r>
            <a:r>
              <a:rPr sz="700" dirty="0">
                <a:latin typeface="Tahoma"/>
                <a:cs typeface="Tahoma"/>
              </a:rPr>
              <a:t>moving</a:t>
            </a:r>
            <a:r>
              <a:rPr sz="700" spc="-5" dirty="0">
                <a:latin typeface="Tahoma"/>
                <a:cs typeface="Tahoma"/>
              </a:rPr>
              <a:t> </a:t>
            </a:r>
            <a:r>
              <a:rPr sz="700" spc="-10" dirty="0">
                <a:latin typeface="Tahoma"/>
                <a:cs typeface="Tahoma"/>
              </a:rPr>
              <a:t>demand</a:t>
            </a:r>
            <a:r>
              <a:rPr sz="700" dirty="0">
                <a:latin typeface="Tahoma"/>
                <a:cs typeface="Tahoma"/>
              </a:rPr>
              <a:t> to another time alone does not </a:t>
            </a:r>
            <a:r>
              <a:rPr sz="700" spc="-10" dirty="0">
                <a:latin typeface="Tahoma"/>
                <a:cs typeface="Tahoma"/>
              </a:rPr>
              <a:t>prove</a:t>
            </a:r>
            <a:r>
              <a:rPr sz="700" dirty="0">
                <a:latin typeface="Tahoma"/>
                <a:cs typeface="Tahoma"/>
              </a:rPr>
              <a:t> </a:t>
            </a:r>
            <a:r>
              <a:rPr sz="700" spc="-25" dirty="0">
                <a:latin typeface="Tahoma"/>
                <a:cs typeface="Tahoma"/>
              </a:rPr>
              <a:t>it.</a:t>
            </a:r>
            <a:endParaRPr sz="700">
              <a:latin typeface="Tahoma"/>
              <a:cs typeface="Tahoma"/>
            </a:endParaRPr>
          </a:p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United</a:t>
            </a:r>
            <a:r>
              <a:rPr sz="650" spc="9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</a:rPr>
              <a:t>Nations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spc="55" dirty="0">
                <a:solidFill>
                  <a:srgbClr val="154B33"/>
                </a:solidFill>
                <a:latin typeface="Tahoma"/>
                <a:cs typeface="Tahoma"/>
              </a:rPr>
              <a:t>DESA: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Goal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6,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target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3"/>
              </a:rPr>
              <a:t>6.4;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Goal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7,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target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4"/>
              </a:rPr>
              <a:t>7.3;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Goal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12,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target</a:t>
            </a:r>
            <a:r>
              <a:rPr sz="650" spc="10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 </a:t>
            </a:r>
            <a:r>
              <a:rPr sz="650" spc="-10" dirty="0">
                <a:solidFill>
                  <a:srgbClr val="154B33"/>
                </a:solidFill>
                <a:latin typeface="Tahoma"/>
                <a:cs typeface="Tahoma"/>
                <a:hlinkClick r:id="rId5"/>
              </a:rPr>
              <a:t>12.3.</a:t>
            </a:r>
            <a:endParaRPr sz="650">
              <a:latin typeface="Tahoma"/>
              <a:cs typeface="Tahoma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2058035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solidFill>
                  <a:srgbClr val="154B33"/>
                </a:solidFill>
                <a:latin typeface="Arial Black"/>
                <a:cs typeface="Arial Black"/>
              </a:rPr>
              <a:t>Individual</a:t>
            </a:r>
            <a:r>
              <a:rPr sz="1100" spc="5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114" dirty="0">
                <a:solidFill>
                  <a:srgbClr val="154B33"/>
                </a:solidFill>
                <a:latin typeface="Arial Black"/>
                <a:cs typeface="Arial Black"/>
              </a:rPr>
              <a:t>Member</a:t>
            </a:r>
            <a:r>
              <a:rPr sz="1100" spc="60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95" dirty="0">
                <a:solidFill>
                  <a:srgbClr val="154B33"/>
                </a:solidFill>
                <a:latin typeface="Arial Black"/>
                <a:cs typeface="Arial Black"/>
              </a:rPr>
              <a:t>Contribution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graphicFrame>
        <p:nvGraphicFramePr>
          <p:cNvPr id="6" name="objec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0672435"/>
              </p:ext>
            </p:extLst>
          </p:nvPr>
        </p:nvGraphicFramePr>
        <p:xfrm>
          <a:off x="467182" y="939393"/>
          <a:ext cx="3672840" cy="15341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445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282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2260">
                <a:tc>
                  <a:txBody>
                    <a:bodyPr/>
                    <a:lstStyle/>
                    <a:p>
                      <a:pPr marR="635" algn="ctr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Member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R w="19050">
                      <a:solidFill>
                        <a:srgbClr val="FFFFFF"/>
                      </a:solidFill>
                      <a:prstDash val="solid"/>
                    </a:lnR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tc>
                  <a:txBody>
                    <a:bodyPr/>
                    <a:lstStyle/>
                    <a:p>
                      <a:pPr marL="57785">
                        <a:lnSpc>
                          <a:spcPct val="100000"/>
                        </a:lnSpc>
                        <a:spcBef>
                          <a:spcPts val="725"/>
                        </a:spcBef>
                      </a:pPr>
                      <a:r>
                        <a:rPr sz="900" spc="-8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Contribution</a:t>
                      </a:r>
                      <a:r>
                        <a:rPr sz="900" spc="2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11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or</a:t>
                      </a:r>
                      <a:r>
                        <a:rPr sz="900" spc="25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 </a:t>
                      </a:r>
                      <a:r>
                        <a:rPr sz="900" spc="-40" dirty="0">
                          <a:solidFill>
                            <a:srgbClr val="FFFFFF"/>
                          </a:solidFill>
                          <a:latin typeface="Arial Black"/>
                          <a:cs typeface="Arial Black"/>
                        </a:rPr>
                        <a:t>responsibility</a:t>
                      </a:r>
                      <a:endParaRPr sz="900">
                        <a:latin typeface="Arial Black"/>
                        <a:cs typeface="Arial Black"/>
                      </a:endParaRPr>
                    </a:p>
                  </a:txBody>
                  <a:tcPr marL="0" marR="0" marT="92075" marB="0">
                    <a:lnL w="19050">
                      <a:solidFill>
                        <a:srgbClr val="FFFFFF"/>
                      </a:solidFill>
                      <a:prstDash val="solid"/>
                    </a:lnL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22684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0" marR="0" lvl="0" indent="0" algn="ctr" defTabSz="914400" eaLnBrk="1" fontAlgn="auto" latinLnBrk="0" hangingPunct="1">
                        <a:lnSpc>
                          <a:spcPct val="100000"/>
                        </a:lnSpc>
                        <a:spcBef>
                          <a:spcPts val="785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900" b="0" dirty="0" err="1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Prajit</a:t>
                      </a: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 Anand </a:t>
                      </a: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</a:rPr>
                        <a:t>Team coordination and presentation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Mohit Vaswani</a:t>
                      </a:r>
                      <a:endParaRPr lang="en-US" sz="900" b="0" dirty="0"/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90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Visual design and documentation</a:t>
                      </a: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988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Tanishq Borah</a:t>
                      </a:r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</a:rPr>
                        <a:t>Solution planning and feasibility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lnB w="19050">
                      <a:solidFill>
                        <a:srgbClr val="FFFFFF"/>
                      </a:solidFill>
                      <a:prstDash val="solid"/>
                    </a:lnB>
                    <a:solidFill>
                      <a:srgbClr val="E0F1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260"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dirty="0">
                          <a:solidFill>
                            <a:schemeClr val="tx1"/>
                          </a:solidFill>
                          <a:latin typeface="+mn-lt"/>
                          <a:ea typeface="Calibri"/>
                          <a:cs typeface="Calibri"/>
                        </a:rPr>
                        <a:t>Sriram S</a:t>
                      </a:r>
                      <a:endParaRPr lang="en-US" sz="900" b="0" dirty="0"/>
                    </a:p>
                  </a:txBody>
                  <a:tcPr marL="0" marR="0" marT="99695" marB="0">
                    <a:lnR w="19050">
                      <a:solidFill>
                        <a:srgbClr val="FFFFFF"/>
                      </a:solidFill>
                      <a:prstDash val="solid"/>
                    </a:lnR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>
                        <a:buNone/>
                      </a:pPr>
                      <a:r>
                        <a:rPr lang="en-US" sz="900" b="0" i="0" u="none" strike="noStrike" noProof="0" dirty="0">
                          <a:solidFill>
                            <a:schemeClr val="tx1"/>
                          </a:solidFill>
                        </a:rPr>
                        <a:t>Research and problem analysis</a:t>
                      </a:r>
                      <a:endParaRPr lang="en-US" sz="900" dirty="0">
                        <a:solidFill>
                          <a:schemeClr val="tx1"/>
                        </a:solidFill>
                      </a:endParaRPr>
                    </a:p>
                  </a:txBody>
                  <a:tcPr marL="0" marR="0" marT="99695" marB="0">
                    <a:lnL w="19050">
                      <a:solidFill>
                        <a:srgbClr val="FFFFFF"/>
                      </a:solidFill>
                      <a:prstDash val="solid"/>
                    </a:lnL>
                    <a:lnT w="19050">
                      <a:solidFill>
                        <a:srgbClr val="FFFFFF"/>
                      </a:solidFill>
                      <a:prstDash val="solid"/>
                    </a:lnT>
                    <a:solidFill>
                      <a:srgbClr val="F2F9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object 7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11302" y="57555"/>
            <a:ext cx="563880" cy="19177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100" spc="-120" dirty="0">
                <a:solidFill>
                  <a:srgbClr val="154B33"/>
                </a:solidFill>
                <a:latin typeface="Arial Black"/>
                <a:cs typeface="Arial Black"/>
              </a:rPr>
              <a:t>Yukti</a:t>
            </a:r>
            <a:r>
              <a:rPr sz="1100" spc="25" dirty="0">
                <a:solidFill>
                  <a:srgbClr val="154B33"/>
                </a:solidFill>
                <a:latin typeface="Arial Black"/>
                <a:cs typeface="Arial Black"/>
              </a:rPr>
              <a:t> </a:t>
            </a:r>
            <a:r>
              <a:rPr sz="1100" spc="-35" dirty="0">
                <a:solidFill>
                  <a:srgbClr val="154B33"/>
                </a:solidFill>
                <a:latin typeface="Arial Black"/>
                <a:cs typeface="Arial Black"/>
              </a:rPr>
              <a:t>ID</a:t>
            </a:r>
            <a:endParaRPr sz="1100">
              <a:latin typeface="Arial Black"/>
              <a:cs typeface="Arial Black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0" y="43186"/>
            <a:ext cx="4608195" cy="291465"/>
            <a:chOff x="0" y="43186"/>
            <a:chExt cx="4608195" cy="291465"/>
          </a:xfrm>
        </p:grpSpPr>
        <p:sp>
          <p:nvSpPr>
            <p:cNvPr id="4" name="object 4"/>
            <p:cNvSpPr/>
            <p:nvPr/>
          </p:nvSpPr>
          <p:spPr>
            <a:xfrm>
              <a:off x="0" y="316801"/>
              <a:ext cx="4608195" cy="17780"/>
            </a:xfrm>
            <a:custGeom>
              <a:avLst/>
              <a:gdLst/>
              <a:ahLst/>
              <a:cxnLst/>
              <a:rect l="l" t="t" r="r" b="b"/>
              <a:pathLst>
                <a:path w="4608195" h="17779">
                  <a:moveTo>
                    <a:pt x="4608004" y="0"/>
                  </a:moveTo>
                  <a:lnTo>
                    <a:pt x="0" y="0"/>
                  </a:lnTo>
                  <a:lnTo>
                    <a:pt x="0" y="17716"/>
                  </a:lnTo>
                  <a:lnTo>
                    <a:pt x="4608004" y="17716"/>
                  </a:lnTo>
                  <a:lnTo>
                    <a:pt x="4608004" y="0"/>
                  </a:lnTo>
                  <a:close/>
                </a:path>
              </a:pathLst>
            </a:custGeom>
            <a:solidFill>
              <a:srgbClr val="2268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03027" y="43186"/>
              <a:ext cx="280987" cy="230409"/>
            </a:xfrm>
            <a:prstGeom prst="rect">
              <a:avLst/>
            </a:prstGeom>
          </p:spPr>
        </p:pic>
      </p:grpSp>
      <p:sp>
        <p:nvSpPr>
          <p:cNvPr id="6" name="object 6"/>
          <p:cNvSpPr/>
          <p:nvPr/>
        </p:nvSpPr>
        <p:spPr>
          <a:xfrm>
            <a:off x="935977" y="1277596"/>
            <a:ext cx="2736215" cy="828040"/>
          </a:xfrm>
          <a:custGeom>
            <a:avLst/>
            <a:gdLst/>
            <a:ahLst/>
            <a:cxnLst/>
            <a:rect l="l" t="t" r="r" b="b"/>
            <a:pathLst>
              <a:path w="2736215" h="828039">
                <a:moveTo>
                  <a:pt x="2660120" y="0"/>
                </a:moveTo>
                <a:lnTo>
                  <a:pt x="75916" y="0"/>
                </a:lnTo>
                <a:lnTo>
                  <a:pt x="46365" y="5965"/>
                </a:lnTo>
                <a:lnTo>
                  <a:pt x="22235" y="22235"/>
                </a:lnTo>
                <a:lnTo>
                  <a:pt x="5965" y="46366"/>
                </a:lnTo>
                <a:lnTo>
                  <a:pt x="0" y="75916"/>
                </a:lnTo>
                <a:lnTo>
                  <a:pt x="0" y="752095"/>
                </a:lnTo>
                <a:lnTo>
                  <a:pt x="5965" y="781645"/>
                </a:lnTo>
                <a:lnTo>
                  <a:pt x="22235" y="805776"/>
                </a:lnTo>
                <a:lnTo>
                  <a:pt x="46365" y="822045"/>
                </a:lnTo>
                <a:lnTo>
                  <a:pt x="75916" y="828011"/>
                </a:lnTo>
                <a:lnTo>
                  <a:pt x="2660120" y="828011"/>
                </a:lnTo>
                <a:lnTo>
                  <a:pt x="2689670" y="822045"/>
                </a:lnTo>
                <a:lnTo>
                  <a:pt x="2713801" y="805776"/>
                </a:lnTo>
                <a:lnTo>
                  <a:pt x="2730071" y="781645"/>
                </a:lnTo>
                <a:lnTo>
                  <a:pt x="2736036" y="752095"/>
                </a:lnTo>
                <a:lnTo>
                  <a:pt x="2736036" y="75916"/>
                </a:lnTo>
                <a:lnTo>
                  <a:pt x="2730071" y="46366"/>
                </a:lnTo>
                <a:lnTo>
                  <a:pt x="2713801" y="22235"/>
                </a:lnTo>
                <a:lnTo>
                  <a:pt x="2689670" y="5965"/>
                </a:lnTo>
                <a:lnTo>
                  <a:pt x="2660120" y="0"/>
                </a:lnTo>
                <a:close/>
              </a:path>
            </a:pathLst>
          </a:custGeom>
          <a:ln w="15183">
            <a:solidFill>
              <a:srgbClr val="226846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920813" y="1180064"/>
            <a:ext cx="766445" cy="180340"/>
          </a:xfrm>
          <a:custGeom>
            <a:avLst/>
            <a:gdLst/>
            <a:ahLst/>
            <a:cxnLst/>
            <a:rect l="l" t="t" r="r" b="b"/>
            <a:pathLst>
              <a:path w="766444" h="180340">
                <a:moveTo>
                  <a:pt x="715753" y="0"/>
                </a:moveTo>
                <a:lnTo>
                  <a:pt x="50610" y="0"/>
                </a:lnTo>
                <a:lnTo>
                  <a:pt x="30910" y="3977"/>
                </a:lnTo>
                <a:lnTo>
                  <a:pt x="14823" y="14823"/>
                </a:lnTo>
                <a:lnTo>
                  <a:pt x="3977" y="30910"/>
                </a:lnTo>
                <a:lnTo>
                  <a:pt x="0" y="50610"/>
                </a:lnTo>
                <a:lnTo>
                  <a:pt x="0" y="129269"/>
                </a:lnTo>
                <a:lnTo>
                  <a:pt x="3977" y="148970"/>
                </a:lnTo>
                <a:lnTo>
                  <a:pt x="14823" y="165057"/>
                </a:lnTo>
                <a:lnTo>
                  <a:pt x="30910" y="175903"/>
                </a:lnTo>
                <a:lnTo>
                  <a:pt x="50610" y="179880"/>
                </a:lnTo>
                <a:lnTo>
                  <a:pt x="715753" y="179880"/>
                </a:lnTo>
                <a:lnTo>
                  <a:pt x="735454" y="175903"/>
                </a:lnTo>
                <a:lnTo>
                  <a:pt x="751541" y="165057"/>
                </a:lnTo>
                <a:lnTo>
                  <a:pt x="762387" y="148970"/>
                </a:lnTo>
                <a:lnTo>
                  <a:pt x="766364" y="129269"/>
                </a:lnTo>
                <a:lnTo>
                  <a:pt x="766364" y="50610"/>
                </a:lnTo>
                <a:lnTo>
                  <a:pt x="762387" y="30910"/>
                </a:lnTo>
                <a:lnTo>
                  <a:pt x="751541" y="14823"/>
                </a:lnTo>
                <a:lnTo>
                  <a:pt x="735454" y="3977"/>
                </a:lnTo>
                <a:lnTo>
                  <a:pt x="715753" y="0"/>
                </a:lnTo>
                <a:close/>
              </a:path>
            </a:pathLst>
          </a:custGeom>
          <a:solidFill>
            <a:srgbClr val="22684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2070125" y="1182974"/>
            <a:ext cx="467995" cy="1625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900" spc="-100" dirty="0">
                <a:solidFill>
                  <a:srgbClr val="FFFFFF"/>
                </a:solidFill>
                <a:latin typeface="Arial Black"/>
                <a:cs typeface="Arial Black"/>
              </a:rPr>
              <a:t>Yukti</a:t>
            </a:r>
            <a:r>
              <a:rPr sz="900" spc="30" dirty="0">
                <a:solidFill>
                  <a:srgbClr val="FFFFFF"/>
                </a:solidFill>
                <a:latin typeface="Arial Black"/>
                <a:cs typeface="Arial Black"/>
              </a:rPr>
              <a:t> </a:t>
            </a:r>
            <a:r>
              <a:rPr sz="900" spc="-25" dirty="0">
                <a:solidFill>
                  <a:srgbClr val="FFFFFF"/>
                </a:solidFill>
                <a:latin typeface="Arial Black"/>
                <a:cs typeface="Arial Black"/>
              </a:rPr>
              <a:t>ID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656867" y="1514927"/>
            <a:ext cx="1410183" cy="2616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lang="en-IN" sz="1600" b="0" i="0" dirty="0">
                <a:solidFill>
                  <a:srgbClr val="212529"/>
                </a:solidFill>
                <a:effectLst/>
                <a:latin typeface="Calibri" panose="020F0502020204030204" pitchFamily="34" charset="0"/>
              </a:rPr>
              <a:t>IR2026-1051093</a:t>
            </a:r>
            <a:endParaRPr sz="1700" dirty="0">
              <a:latin typeface="Arial Black"/>
              <a:cs typeface="Arial Black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0" y="3331324"/>
            <a:ext cx="4608195" cy="125095"/>
          </a:xfrm>
          <a:custGeom>
            <a:avLst/>
            <a:gdLst/>
            <a:ahLst/>
            <a:cxnLst/>
            <a:rect l="l" t="t" r="r" b="b"/>
            <a:pathLst>
              <a:path w="4608195" h="125095">
                <a:moveTo>
                  <a:pt x="4607992" y="0"/>
                </a:moveTo>
                <a:lnTo>
                  <a:pt x="3317760" y="0"/>
                </a:lnTo>
                <a:lnTo>
                  <a:pt x="0" y="0"/>
                </a:lnTo>
                <a:lnTo>
                  <a:pt x="0" y="124675"/>
                </a:lnTo>
                <a:lnTo>
                  <a:pt x="3317760" y="124675"/>
                </a:lnTo>
                <a:lnTo>
                  <a:pt x="4607992" y="124675"/>
                </a:lnTo>
                <a:lnTo>
                  <a:pt x="4607992" y="0"/>
                </a:lnTo>
                <a:close/>
              </a:path>
            </a:pathLst>
          </a:custGeom>
          <a:solidFill>
            <a:srgbClr val="E0F1E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dt" sz="half" idx="6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35" dirty="0"/>
              <a:t>Not</a:t>
            </a:r>
            <a:r>
              <a:rPr spc="20" dirty="0"/>
              <a:t> </a:t>
            </a:r>
            <a:r>
              <a:rPr spc="-65" dirty="0"/>
              <a:t>supplied</a:t>
            </a:r>
            <a:r>
              <a:rPr spc="25" dirty="0"/>
              <a:t> </a:t>
            </a:r>
            <a:r>
              <a:rPr dirty="0"/>
              <a:t>|</a:t>
            </a:r>
            <a:r>
              <a:rPr spc="20" dirty="0"/>
              <a:t> </a:t>
            </a:r>
            <a:r>
              <a:rPr spc="-35" dirty="0"/>
              <a:t>Not</a:t>
            </a:r>
            <a:r>
              <a:rPr spc="25" dirty="0"/>
              <a:t> </a:t>
            </a:r>
            <a:r>
              <a:rPr spc="-55" dirty="0"/>
              <a:t>supplied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65"/>
              </a:spcBef>
            </a:pPr>
            <a:r>
              <a:rPr spc="-55" dirty="0"/>
              <a:t>11th</a:t>
            </a:r>
            <a:r>
              <a:rPr spc="25" dirty="0"/>
              <a:t> </a:t>
            </a:r>
            <a:r>
              <a:rPr spc="-55" dirty="0"/>
              <a:t>October</a:t>
            </a:r>
            <a:r>
              <a:rPr spc="25" dirty="0"/>
              <a:t> </a:t>
            </a:r>
            <a:r>
              <a:rPr spc="-55" dirty="0"/>
              <a:t>2026</a:t>
            </a:r>
          </a:p>
        </p:txBody>
      </p: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154B33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92</TotalTime>
  <Words>1616</Words>
  <Application>Microsoft Office PowerPoint</Application>
  <PresentationFormat>Custom</PresentationFormat>
  <Paragraphs>221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ADLaM Display</vt:lpstr>
      <vt:lpstr>Arial</vt:lpstr>
      <vt:lpstr>Arial Black</vt:lpstr>
      <vt:lpstr>Arial Rounded MT Bold</vt:lpstr>
      <vt:lpstr>Calibri</vt:lpstr>
      <vt:lpstr>Gill Sans MT</vt:lpstr>
      <vt:lpstr>Tahoma</vt:lpstr>
      <vt:lpstr>Times New Roman</vt:lpstr>
      <vt:lpstr>Office Theme</vt:lpstr>
      <vt:lpstr>CampusWatch x360</vt:lpstr>
      <vt:lpstr>Presentation Outline</vt:lpstr>
      <vt:lpstr>Problem Statement</vt:lpstr>
      <vt:lpstr>Problem Understanding</vt:lpstr>
      <vt:lpstr>Existing Gaps &amp; Challenges</vt:lpstr>
      <vt:lpstr>Our Proposed Solution</vt:lpstr>
      <vt:lpstr>Technical Approach</vt:lpstr>
      <vt:lpstr>Innovation &amp; Uniqueness</vt:lpstr>
      <vt:lpstr>Feasibility &amp; Scalability</vt:lpstr>
      <vt:lpstr>Cost for Product (Optional)</vt:lpstr>
      <vt:lpstr>Use Cases </vt:lpstr>
      <vt:lpstr>Impacts and Benefits</vt:lpstr>
      <vt:lpstr>Sustainable Development Goals (SDGs)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CampusWatch x360</dc:title>
  <dc:creator>Team ID: Not supplied[0.2cm] Team Name: Not supplied[0.2cm] Domain: Not supplied</dc:creator>
  <cp:lastModifiedBy>Ramya Anand</cp:lastModifiedBy>
  <cp:revision>1</cp:revision>
  <dcterms:created xsi:type="dcterms:W3CDTF">2026-10-11T06:27:37Z</dcterms:created>
  <dcterms:modified xsi:type="dcterms:W3CDTF">2026-10-11T08:00:35Z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2026-10-11T00:00:00Z</vt:filetime>
  </property>
  <property fmtid="{D5CDD505-2E9C-101B-9397-08002B2CF9AE}" pid="4" name="Creator">
    <vt:lpwstr>LaTeX with Beamer class</vt:lpwstr>
  </property>
  <property fmtid="{D5CDD505-2E9C-101B-9397-08002B2CF9AE}" pid="5" name="LastSaved">
    <vt:filetime>2026-10-11T00:00:00Z</vt:filetime>
  </property>
  <property fmtid="{D5CDD505-2E9C-101B-9397-08002B2CF9AE}" pid="6" name="PTEX.Fullbanner">
    <vt:lpwstr>This is pdfTeX, Version 3.141592653-2.6-1.40.25 (TeX Live 2023/Debian) kpathsea version 6.3.5</vt:lpwstr>
  </property>
  <property fmtid="{D5CDD505-2E9C-101B-9397-08002B2CF9AE}" pid="7" name="Producer">
    <vt:lpwstr>pdfTeX-1.40.25</vt:lpwstr>
  </property>
</Properties>
</file>